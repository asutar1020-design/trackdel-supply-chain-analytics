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5C61F9C-D71F-4F74-A60B-552955209BCE}">
          <p14:sldIdLst>
            <p14:sldId id="256"/>
            <p14:sldId id="257"/>
            <p14:sldId id="258"/>
            <p14:sldId id="259"/>
            <p14:sldId id="260"/>
            <p14:sldId id="261"/>
            <p14:sldId id="262"/>
            <p14:sldId id="263"/>
            <p14:sldId id="264"/>
            <p14:sldId id="265"/>
            <p14:sldId id="26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274"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9817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265615" y="-1463040"/>
            <a:ext cx="4206240" cy="4206240"/>
          </a:xfrm>
          <a:prstGeom prst="ellipse">
            <a:avLst/>
          </a:prstGeom>
          <a:solidFill>
            <a:srgbClr val="CADCFC"/>
          </a:solidFill>
          <a:ln/>
        </p:spPr>
      </p:sp>
      <p:sp>
        <p:nvSpPr>
          <p:cNvPr id="3" name="Shape 1"/>
          <p:cNvSpPr/>
          <p:nvPr/>
        </p:nvSpPr>
        <p:spPr>
          <a:xfrm>
            <a:off x="-1645920" y="4663440"/>
            <a:ext cx="3840480" cy="3840480"/>
          </a:xfrm>
          <a:prstGeom prst="ellipse">
            <a:avLst/>
          </a:prstGeom>
          <a:solidFill>
            <a:srgbClr val="F5F7FC"/>
          </a:solidFill>
          <a:ln/>
        </p:spPr>
      </p:sp>
      <p:sp>
        <p:nvSpPr>
          <p:cNvPr id="4" name="Text 2"/>
          <p:cNvSpPr/>
          <p:nvPr/>
        </p:nvSpPr>
        <p:spPr>
          <a:xfrm>
            <a:off x="822960" y="1828800"/>
            <a:ext cx="10545775" cy="1188720"/>
          </a:xfrm>
          <a:prstGeom prst="rect">
            <a:avLst/>
          </a:prstGeom>
          <a:noFill/>
          <a:ln/>
        </p:spPr>
        <p:txBody>
          <a:bodyPr wrap="square" lIns="0" tIns="0" rIns="0" bIns="0" rtlCol="0" anchor="ctr"/>
          <a:lstStyle/>
          <a:p>
            <a:pPr marL="0" indent="0">
              <a:buNone/>
            </a:pPr>
            <a:r>
              <a:rPr lang="en-US" sz="6000" b="1" dirty="0">
                <a:solidFill>
                  <a:srgbClr val="1E2761"/>
                </a:solidFill>
                <a:latin typeface="Cambria" pitchFamily="34" charset="0"/>
                <a:ea typeface="Cambria" pitchFamily="34" charset="-122"/>
                <a:cs typeface="Cambria" pitchFamily="34" charset="-120"/>
              </a:rPr>
              <a:t>TrackDel</a:t>
            </a:r>
            <a:endParaRPr lang="en-US" sz="6000" dirty="0"/>
          </a:p>
        </p:txBody>
      </p:sp>
      <p:sp>
        <p:nvSpPr>
          <p:cNvPr id="5" name="Text 3"/>
          <p:cNvSpPr/>
          <p:nvPr/>
        </p:nvSpPr>
        <p:spPr>
          <a:xfrm>
            <a:off x="822960" y="2880360"/>
            <a:ext cx="10545775" cy="548640"/>
          </a:xfrm>
          <a:prstGeom prst="rect">
            <a:avLst/>
          </a:prstGeom>
          <a:noFill/>
          <a:ln/>
        </p:spPr>
        <p:txBody>
          <a:bodyPr wrap="square" lIns="0" tIns="0" rIns="0" bIns="0" rtlCol="0" anchor="ctr"/>
          <a:lstStyle/>
          <a:p>
            <a:pPr marL="0" indent="0">
              <a:buNone/>
            </a:pPr>
            <a:r>
              <a:rPr lang="en-US" sz="2800" dirty="0">
                <a:solidFill>
                  <a:srgbClr val="33415C"/>
                </a:solidFill>
                <a:latin typeface="Calibri" pitchFamily="34" charset="0"/>
                <a:ea typeface="Calibri" pitchFamily="34" charset="-122"/>
                <a:cs typeface="Calibri" pitchFamily="34" charset="-120"/>
              </a:rPr>
              <a:t>Supply Chain Delivery Performance Dashboard</a:t>
            </a:r>
            <a:endParaRPr lang="en-US" sz="2800" dirty="0"/>
          </a:p>
        </p:txBody>
      </p:sp>
      <p:sp>
        <p:nvSpPr>
          <p:cNvPr id="6" name="Text 4"/>
          <p:cNvSpPr/>
          <p:nvPr/>
        </p:nvSpPr>
        <p:spPr>
          <a:xfrm>
            <a:off x="3113079" y="4059606"/>
            <a:ext cx="2377440" cy="320040"/>
          </a:xfrm>
          <a:prstGeom prst="rect">
            <a:avLst/>
          </a:prstGeom>
          <a:noFill/>
          <a:ln/>
        </p:spPr>
        <p:txBody>
          <a:bodyPr wrap="square" lIns="0" tIns="0" rIns="0" bIns="0" rtlCol="0" anchor="ctr"/>
          <a:lstStyle/>
          <a:p>
            <a:pPr marL="0" indent="0">
              <a:buNone/>
            </a:pPr>
            <a:r>
              <a:rPr lang="en-US" sz="2000" b="1" kern="0" spc="100" dirty="0">
                <a:solidFill>
                  <a:srgbClr val="1E2761"/>
                </a:solidFill>
                <a:latin typeface="Calibri" pitchFamily="34" charset="0"/>
                <a:ea typeface="Calibri" pitchFamily="34" charset="-122"/>
                <a:cs typeface="Calibri" pitchFamily="34" charset="-120"/>
              </a:rPr>
              <a:t>PREPARED BY</a:t>
            </a:r>
            <a:endParaRPr lang="en-US" sz="2000" dirty="0"/>
          </a:p>
        </p:txBody>
      </p:sp>
      <p:sp>
        <p:nvSpPr>
          <p:cNvPr id="7" name="Text 5"/>
          <p:cNvSpPr/>
          <p:nvPr/>
        </p:nvSpPr>
        <p:spPr>
          <a:xfrm>
            <a:off x="3113079" y="4524616"/>
            <a:ext cx="2377440" cy="404831"/>
          </a:xfrm>
          <a:prstGeom prst="rect">
            <a:avLst/>
          </a:prstGeom>
          <a:noFill/>
          <a:ln/>
        </p:spPr>
        <p:txBody>
          <a:bodyPr wrap="square" lIns="0" tIns="0" rIns="0" bIns="0" rtlCol="0" anchor="t"/>
          <a:lstStyle/>
          <a:p>
            <a:pPr marL="342900" indent="-342900">
              <a:buSzPct val="100000"/>
              <a:buChar char="•"/>
            </a:pPr>
            <a:r>
              <a:rPr lang="en-US" sz="2000" dirty="0">
                <a:solidFill>
                  <a:srgbClr val="33415C"/>
                </a:solidFill>
                <a:latin typeface="Calibri" pitchFamily="34" charset="0"/>
                <a:ea typeface="Calibri" pitchFamily="34" charset="-122"/>
                <a:cs typeface="Calibri" pitchFamily="34" charset="-120"/>
              </a:rPr>
              <a:t>Tanishq</a:t>
            </a:r>
            <a:endParaRPr lang="en-US" sz="2000" dirty="0"/>
          </a:p>
        </p:txBody>
      </p:sp>
      <p:sp>
        <p:nvSpPr>
          <p:cNvPr id="10" name="Text 8"/>
          <p:cNvSpPr/>
          <p:nvPr/>
        </p:nvSpPr>
        <p:spPr>
          <a:xfrm>
            <a:off x="6035040" y="4069080"/>
            <a:ext cx="2377440" cy="320040"/>
          </a:xfrm>
          <a:prstGeom prst="rect">
            <a:avLst/>
          </a:prstGeom>
          <a:noFill/>
          <a:ln/>
        </p:spPr>
        <p:txBody>
          <a:bodyPr wrap="square" lIns="0" tIns="0" rIns="0" bIns="0" rtlCol="0" anchor="ctr"/>
          <a:lstStyle/>
          <a:p>
            <a:pPr marL="0" indent="0">
              <a:buNone/>
            </a:pPr>
            <a:r>
              <a:rPr lang="en-US" sz="2000" b="1" kern="0" spc="100" dirty="0">
                <a:solidFill>
                  <a:srgbClr val="1E2761"/>
                </a:solidFill>
                <a:latin typeface="Calibri" pitchFamily="34" charset="0"/>
                <a:ea typeface="Calibri" pitchFamily="34" charset="-122"/>
                <a:cs typeface="Calibri" pitchFamily="34" charset="-120"/>
              </a:rPr>
              <a:t>TECHNOLOGY</a:t>
            </a:r>
            <a:endParaRPr lang="en-US" sz="2000" dirty="0"/>
          </a:p>
        </p:txBody>
      </p:sp>
      <p:sp>
        <p:nvSpPr>
          <p:cNvPr id="11" name="Text 9"/>
          <p:cNvSpPr/>
          <p:nvPr/>
        </p:nvSpPr>
        <p:spPr>
          <a:xfrm>
            <a:off x="6001265" y="4524616"/>
            <a:ext cx="2377440" cy="1128039"/>
          </a:xfrm>
          <a:prstGeom prst="rect">
            <a:avLst/>
          </a:prstGeom>
          <a:noFill/>
          <a:ln/>
        </p:spPr>
        <p:txBody>
          <a:bodyPr wrap="square" lIns="0" tIns="0" rIns="0" bIns="0" rtlCol="0" anchor="t"/>
          <a:lstStyle/>
          <a:p>
            <a:pPr marL="342900" indent="-342900">
              <a:buSzPct val="100000"/>
              <a:buChar char="•"/>
            </a:pPr>
            <a:r>
              <a:rPr lang="en-US" sz="2000" dirty="0">
                <a:solidFill>
                  <a:srgbClr val="33415C"/>
                </a:solidFill>
                <a:ea typeface="Calibri" pitchFamily="34" charset="-122"/>
                <a:cs typeface="Calibri" pitchFamily="34" charset="-120"/>
              </a:rPr>
              <a:t>Python (Pandas)</a:t>
            </a:r>
            <a:endParaRPr lang="en-US" sz="2000" dirty="0"/>
          </a:p>
          <a:p>
            <a:pPr marL="342900" indent="-342900">
              <a:buSzPct val="100000"/>
              <a:buChar char="•"/>
            </a:pPr>
            <a:r>
              <a:rPr lang="en-US" sz="2000" dirty="0">
                <a:solidFill>
                  <a:srgbClr val="33415C"/>
                </a:solidFill>
                <a:ea typeface="Calibri" pitchFamily="34" charset="-122"/>
                <a:cs typeface="Calibri" pitchFamily="34" charset="-120"/>
              </a:rPr>
              <a:t>MySQL</a:t>
            </a:r>
            <a:endParaRPr lang="en-US" sz="2000" dirty="0"/>
          </a:p>
          <a:p>
            <a:pPr marL="342900" indent="-342900">
              <a:buSzPct val="100000"/>
              <a:buChar char="•"/>
            </a:pPr>
            <a:r>
              <a:rPr lang="en-US" sz="2000" dirty="0">
                <a:solidFill>
                  <a:srgbClr val="33415C"/>
                </a:solidFill>
                <a:ea typeface="Calibri" pitchFamily="34" charset="-122"/>
                <a:cs typeface="Calibri" pitchFamily="34" charset="-120"/>
              </a:rPr>
              <a:t>Power BI</a:t>
            </a:r>
            <a:endParaRPr lang="en-US" sz="2000" dirty="0"/>
          </a:p>
        </p:txBody>
      </p:sp>
      <p:pic>
        <p:nvPicPr>
          <p:cNvPr id="17" name="Picture 16">
            <a:extLst>
              <a:ext uri="{FF2B5EF4-FFF2-40B4-BE49-F238E27FC236}">
                <a16:creationId xmlns:a16="http://schemas.microsoft.com/office/drawing/2014/main" id="{19410492-2209-F5E4-B840-7877181CBD69}"/>
              </a:ext>
            </a:extLst>
          </p:cNvPr>
          <p:cNvPicPr>
            <a:picLocks noChangeAspect="1"/>
          </p:cNvPicPr>
          <p:nvPr/>
        </p:nvPicPr>
        <p:blipFill>
          <a:blip r:embed="rId3"/>
          <a:srcRect l="9412" t="9653" r="8220" b="9588"/>
          <a:stretch/>
        </p:blipFill>
        <p:spPr>
          <a:xfrm>
            <a:off x="6977449" y="247136"/>
            <a:ext cx="2286000" cy="22413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Introduction</a:t>
            </a:r>
            <a:endParaRPr lang="en-US" sz="3200" dirty="0"/>
          </a:p>
        </p:txBody>
      </p:sp>
      <p:sp>
        <p:nvSpPr>
          <p:cNvPr id="3" name="Text 1"/>
          <p:cNvSpPr/>
          <p:nvPr/>
        </p:nvSpPr>
        <p:spPr>
          <a:xfrm>
            <a:off x="548640" y="1463040"/>
            <a:ext cx="6492240" cy="2011680"/>
          </a:xfrm>
          <a:prstGeom prst="rect">
            <a:avLst/>
          </a:prstGeom>
          <a:noFill/>
          <a:ln/>
        </p:spPr>
        <p:txBody>
          <a:bodyPr wrap="square" lIns="0" tIns="0" rIns="0" bIns="0" rtlCol="0" anchor="t"/>
          <a:lstStyle/>
          <a:p>
            <a:pPr marL="0" indent="0">
              <a:lnSpc>
                <a:spcPct val="125000"/>
              </a:lnSpc>
              <a:buNone/>
            </a:pPr>
            <a:r>
              <a:rPr lang="en-US" sz="1600" dirty="0">
                <a:solidFill>
                  <a:srgbClr val="33415C"/>
                </a:solidFill>
                <a:latin typeface="Calibri" pitchFamily="34" charset="0"/>
                <a:ea typeface="Calibri" pitchFamily="34" charset="-122"/>
                <a:cs typeface="Calibri" pitchFamily="34" charset="-120"/>
              </a:rPr>
              <a:t>Supply chain management plays an important role in ensuring timely product delivery and efficient logistics operations. Organizations generate large volumes of operational data that can be analyzed to improve delivery performance and business decision-making.</a:t>
            </a:r>
            <a:endParaRPr lang="en-US" sz="1600" dirty="0"/>
          </a:p>
        </p:txBody>
      </p:sp>
      <p:sp>
        <p:nvSpPr>
          <p:cNvPr id="4" name="Text 2"/>
          <p:cNvSpPr/>
          <p:nvPr/>
        </p:nvSpPr>
        <p:spPr>
          <a:xfrm>
            <a:off x="548640" y="3611880"/>
            <a:ext cx="6492240" cy="2377440"/>
          </a:xfrm>
          <a:prstGeom prst="rect">
            <a:avLst/>
          </a:prstGeom>
          <a:noFill/>
          <a:ln/>
        </p:spPr>
        <p:txBody>
          <a:bodyPr wrap="square" lIns="0" tIns="0" rIns="0" bIns="0" rtlCol="0" anchor="t"/>
          <a:lstStyle/>
          <a:p>
            <a:pPr marL="0" indent="0">
              <a:lnSpc>
                <a:spcPct val="125000"/>
              </a:lnSpc>
              <a:buNone/>
            </a:pPr>
            <a:r>
              <a:rPr lang="en-US" sz="1600" b="1" dirty="0">
                <a:solidFill>
                  <a:srgbClr val="1E2761"/>
                </a:solidFill>
                <a:latin typeface="Calibri" pitchFamily="34" charset="0"/>
                <a:ea typeface="Calibri" pitchFamily="34" charset="-122"/>
                <a:cs typeface="Calibri" pitchFamily="34" charset="-120"/>
              </a:rPr>
              <a:t>TrackDel</a:t>
            </a:r>
            <a:r>
              <a:rPr lang="en-US" sz="1600" dirty="0">
                <a:solidFill>
                  <a:srgbClr val="33415C"/>
                </a:solidFill>
                <a:latin typeface="Calibri" pitchFamily="34" charset="0"/>
                <a:ea typeface="Calibri" pitchFamily="34" charset="-122"/>
                <a:cs typeface="Calibri" pitchFamily="34" charset="-120"/>
              </a:rPr>
              <a:t> is a Supply Chain Delivery Performance Dashboard developed using </a:t>
            </a:r>
            <a:r>
              <a:rPr lang="en-US" sz="1600" b="1" dirty="0">
                <a:solidFill>
                  <a:srgbClr val="1E2761"/>
                </a:solidFill>
                <a:latin typeface="Calibri" pitchFamily="34" charset="0"/>
                <a:ea typeface="Calibri" pitchFamily="34" charset="-122"/>
                <a:cs typeface="Calibri" pitchFamily="34" charset="-120"/>
              </a:rPr>
              <a:t>Python, MySQL, and Power BI</a:t>
            </a:r>
            <a:r>
              <a:rPr lang="en-US" sz="1600" dirty="0">
                <a:solidFill>
                  <a:srgbClr val="33415C"/>
                </a:solidFill>
                <a:latin typeface="Calibri" pitchFamily="34" charset="0"/>
                <a:ea typeface="Calibri" pitchFamily="34" charset="-122"/>
                <a:cs typeface="Calibri" pitchFamily="34" charset="-120"/>
              </a:rPr>
              <a:t>. The project transforms raw supply chain data into interactive dashboards that help monitor delivery performance, supplier performance, order status, and logistics efficiency.</a:t>
            </a:r>
            <a:endParaRPr lang="en-US" sz="1600" dirty="0"/>
          </a:p>
        </p:txBody>
      </p:sp>
      <p:sp>
        <p:nvSpPr>
          <p:cNvPr id="5" name="Shape 3"/>
          <p:cNvSpPr/>
          <p:nvPr/>
        </p:nvSpPr>
        <p:spPr>
          <a:xfrm>
            <a:off x="7406640" y="1463040"/>
            <a:ext cx="4206240" cy="4526280"/>
          </a:xfrm>
          <a:prstGeom prst="roundRect">
            <a:avLst>
              <a:gd name="adj" fmla="val 2609"/>
            </a:avLst>
          </a:prstGeom>
          <a:solidFill>
            <a:srgbClr val="F5F7FC"/>
          </a:solidFill>
          <a:ln/>
          <a:effectLst>
            <a:outerShdw blurRad="101600" dist="38100" dir="2700000" algn="bl" rotWithShape="0">
              <a:srgbClr val="1E2761">
                <a:alpha val="12000"/>
              </a:srgbClr>
            </a:outerShdw>
          </a:effectLst>
        </p:spPr>
      </p:sp>
      <p:sp>
        <p:nvSpPr>
          <p:cNvPr id="6" name="Text 4"/>
          <p:cNvSpPr/>
          <p:nvPr/>
        </p:nvSpPr>
        <p:spPr>
          <a:xfrm>
            <a:off x="7726680" y="1783080"/>
            <a:ext cx="3566160" cy="36576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Built With</a:t>
            </a:r>
            <a:endParaRPr lang="en-US" sz="1600" dirty="0"/>
          </a:p>
        </p:txBody>
      </p:sp>
      <p:sp>
        <p:nvSpPr>
          <p:cNvPr id="7" name="Shape 5"/>
          <p:cNvSpPr/>
          <p:nvPr/>
        </p:nvSpPr>
        <p:spPr>
          <a:xfrm>
            <a:off x="7726680" y="2377440"/>
            <a:ext cx="201168" cy="201168"/>
          </a:xfrm>
          <a:prstGeom prst="ellipse">
            <a:avLst/>
          </a:prstGeom>
          <a:solidFill>
            <a:srgbClr val="1E2761"/>
          </a:solidFill>
          <a:ln/>
        </p:spPr>
      </p:sp>
      <p:sp>
        <p:nvSpPr>
          <p:cNvPr id="8" name="Text 6"/>
          <p:cNvSpPr/>
          <p:nvPr/>
        </p:nvSpPr>
        <p:spPr>
          <a:xfrm>
            <a:off x="8092440" y="2258568"/>
            <a:ext cx="3200400" cy="32004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Python (Pandas)</a:t>
            </a:r>
            <a:endParaRPr lang="en-US" sz="1600" dirty="0"/>
          </a:p>
        </p:txBody>
      </p:sp>
      <p:sp>
        <p:nvSpPr>
          <p:cNvPr id="9" name="Text 7"/>
          <p:cNvSpPr/>
          <p:nvPr/>
        </p:nvSpPr>
        <p:spPr>
          <a:xfrm>
            <a:off x="8092440" y="2569464"/>
            <a:ext cx="3200400" cy="320040"/>
          </a:xfrm>
          <a:prstGeom prst="rect">
            <a:avLst/>
          </a:prstGeom>
          <a:noFill/>
          <a:ln/>
        </p:spPr>
        <p:txBody>
          <a:bodyPr wrap="square" lIns="0" tIns="0" rIns="0" bIns="0" rtlCol="0" anchor="ctr"/>
          <a:lstStyle/>
          <a:p>
            <a:pPr marL="0" indent="0">
              <a:buNone/>
            </a:pPr>
            <a:r>
              <a:rPr lang="en-US" sz="1400" dirty="0">
                <a:solidFill>
                  <a:srgbClr val="5A6B87"/>
                </a:solidFill>
                <a:latin typeface="Calibri" pitchFamily="34" charset="0"/>
                <a:ea typeface="Calibri" pitchFamily="34" charset="-122"/>
                <a:cs typeface="Calibri" pitchFamily="34" charset="-120"/>
              </a:rPr>
              <a:t>Data cleaning &amp; preparation</a:t>
            </a:r>
            <a:endParaRPr lang="en-US" sz="1400" dirty="0"/>
          </a:p>
        </p:txBody>
      </p:sp>
      <p:sp>
        <p:nvSpPr>
          <p:cNvPr id="10" name="Shape 8"/>
          <p:cNvSpPr/>
          <p:nvPr/>
        </p:nvSpPr>
        <p:spPr>
          <a:xfrm>
            <a:off x="7726680" y="3337560"/>
            <a:ext cx="201168" cy="201168"/>
          </a:xfrm>
          <a:prstGeom prst="ellipse">
            <a:avLst/>
          </a:prstGeom>
          <a:solidFill>
            <a:srgbClr val="1E2761"/>
          </a:solidFill>
          <a:ln/>
        </p:spPr>
      </p:sp>
      <p:sp>
        <p:nvSpPr>
          <p:cNvPr id="11" name="Text 9"/>
          <p:cNvSpPr/>
          <p:nvPr/>
        </p:nvSpPr>
        <p:spPr>
          <a:xfrm>
            <a:off x="8092440" y="3218688"/>
            <a:ext cx="3200400" cy="32004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MySQL</a:t>
            </a:r>
            <a:endParaRPr lang="en-US" sz="1600" dirty="0"/>
          </a:p>
        </p:txBody>
      </p:sp>
      <p:sp>
        <p:nvSpPr>
          <p:cNvPr id="12" name="Text 10"/>
          <p:cNvSpPr/>
          <p:nvPr/>
        </p:nvSpPr>
        <p:spPr>
          <a:xfrm>
            <a:off x="8092440" y="3529584"/>
            <a:ext cx="3200400" cy="320040"/>
          </a:xfrm>
          <a:prstGeom prst="rect">
            <a:avLst/>
          </a:prstGeom>
          <a:noFill/>
          <a:ln/>
        </p:spPr>
        <p:txBody>
          <a:bodyPr wrap="square" lIns="0" tIns="0" rIns="0" bIns="0" rtlCol="0" anchor="ctr"/>
          <a:lstStyle/>
          <a:p>
            <a:pPr marL="0" indent="0">
              <a:buNone/>
            </a:pPr>
            <a:r>
              <a:rPr lang="en-US" sz="1400" dirty="0">
                <a:solidFill>
                  <a:srgbClr val="5A6B87"/>
                </a:solidFill>
                <a:latin typeface="Calibri" pitchFamily="34" charset="0"/>
                <a:ea typeface="Calibri" pitchFamily="34" charset="-122"/>
                <a:cs typeface="Calibri" pitchFamily="34" charset="-120"/>
              </a:rPr>
              <a:t>Structured data storage</a:t>
            </a:r>
            <a:endParaRPr lang="en-US" sz="1400" dirty="0"/>
          </a:p>
        </p:txBody>
      </p:sp>
      <p:sp>
        <p:nvSpPr>
          <p:cNvPr id="13" name="Shape 11"/>
          <p:cNvSpPr/>
          <p:nvPr/>
        </p:nvSpPr>
        <p:spPr>
          <a:xfrm>
            <a:off x="7726680" y="4297680"/>
            <a:ext cx="201168" cy="201168"/>
          </a:xfrm>
          <a:prstGeom prst="ellipse">
            <a:avLst/>
          </a:prstGeom>
          <a:solidFill>
            <a:srgbClr val="1E2761"/>
          </a:solidFill>
          <a:ln/>
        </p:spPr>
      </p:sp>
      <p:sp>
        <p:nvSpPr>
          <p:cNvPr id="14" name="Text 12"/>
          <p:cNvSpPr/>
          <p:nvPr/>
        </p:nvSpPr>
        <p:spPr>
          <a:xfrm>
            <a:off x="8092440" y="4178808"/>
            <a:ext cx="3200400" cy="32004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Power BI</a:t>
            </a:r>
            <a:endParaRPr lang="en-US" sz="1600" dirty="0"/>
          </a:p>
        </p:txBody>
      </p:sp>
      <p:sp>
        <p:nvSpPr>
          <p:cNvPr id="15" name="Text 13"/>
          <p:cNvSpPr/>
          <p:nvPr/>
        </p:nvSpPr>
        <p:spPr>
          <a:xfrm>
            <a:off x="8092440" y="4489704"/>
            <a:ext cx="3200400" cy="320040"/>
          </a:xfrm>
          <a:prstGeom prst="rect">
            <a:avLst/>
          </a:prstGeom>
          <a:noFill/>
          <a:ln/>
        </p:spPr>
        <p:txBody>
          <a:bodyPr wrap="square" lIns="0" tIns="0" rIns="0" bIns="0" rtlCol="0" anchor="ctr"/>
          <a:lstStyle/>
          <a:p>
            <a:pPr marL="0" indent="0">
              <a:buNone/>
            </a:pPr>
            <a:r>
              <a:rPr lang="en-US" sz="1400" dirty="0">
                <a:solidFill>
                  <a:srgbClr val="5A6B87"/>
                </a:solidFill>
                <a:latin typeface="Calibri" pitchFamily="34" charset="0"/>
                <a:ea typeface="Calibri" pitchFamily="34" charset="-122"/>
                <a:cs typeface="Calibri" pitchFamily="34" charset="-120"/>
              </a:rPr>
              <a:t>Interactive dashboards</a:t>
            </a:r>
            <a:endParaRPr lang="en-US" sz="1400" dirty="0"/>
          </a:p>
        </p:txBody>
      </p:sp>
      <p:sp>
        <p:nvSpPr>
          <p:cNvPr id="16" name="Text 14"/>
          <p:cNvSpPr/>
          <p:nvPr/>
        </p:nvSpPr>
        <p:spPr>
          <a:xfrm>
            <a:off x="11551615" y="6446520"/>
            <a:ext cx="365760" cy="274320"/>
          </a:xfrm>
          <a:prstGeom prst="rect">
            <a:avLst/>
          </a:prstGeom>
          <a:noFill/>
          <a:ln/>
        </p:spPr>
        <p:txBody>
          <a:bodyPr wrap="square" lIns="0" tIns="0" rIns="0" bIns="0" rtlCol="0" anchor="ctr"/>
          <a:lstStyle/>
          <a:p>
            <a:pPr marL="0" indent="0" algn="r">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Project Objectives</a:t>
            </a:r>
            <a:endParaRPr lang="en-US" sz="3200" dirty="0"/>
          </a:p>
        </p:txBody>
      </p:sp>
      <p:sp>
        <p:nvSpPr>
          <p:cNvPr id="3" name="Text 1"/>
          <p:cNvSpPr/>
          <p:nvPr/>
        </p:nvSpPr>
        <p:spPr>
          <a:xfrm>
            <a:off x="548640" y="1234440"/>
            <a:ext cx="11094415" cy="411480"/>
          </a:xfrm>
          <a:prstGeom prst="rect">
            <a:avLst/>
          </a:prstGeom>
          <a:noFill/>
          <a:ln/>
        </p:spPr>
        <p:txBody>
          <a:bodyPr wrap="square" lIns="0" tIns="0" rIns="0" bIns="0" rtlCol="0" anchor="ctr"/>
          <a:lstStyle/>
          <a:p>
            <a:pPr marL="0" indent="0">
              <a:buNone/>
            </a:pPr>
            <a:r>
              <a:rPr lang="en-US" sz="1500" i="1" dirty="0">
                <a:solidFill>
                  <a:srgbClr val="5A6B87"/>
                </a:solidFill>
                <a:latin typeface="Calibri" pitchFamily="34" charset="0"/>
                <a:ea typeface="Calibri" pitchFamily="34" charset="-122"/>
                <a:cs typeface="Calibri" pitchFamily="34" charset="-120"/>
              </a:rPr>
              <a:t>The main objectives of the project are:</a:t>
            </a:r>
            <a:endParaRPr lang="en-US" sz="1500" dirty="0"/>
          </a:p>
        </p:txBody>
      </p:sp>
      <p:sp>
        <p:nvSpPr>
          <p:cNvPr id="4" name="Shape 2"/>
          <p:cNvSpPr/>
          <p:nvPr/>
        </p:nvSpPr>
        <p:spPr>
          <a:xfrm>
            <a:off x="548640" y="1828800"/>
            <a:ext cx="5410048" cy="868680"/>
          </a:xfrm>
          <a:prstGeom prst="roundRect">
            <a:avLst>
              <a:gd name="adj" fmla="val 8421"/>
            </a:avLst>
          </a:prstGeom>
          <a:solidFill>
            <a:srgbClr val="F5F7FC"/>
          </a:solidFill>
          <a:ln/>
          <a:effectLst>
            <a:outerShdw blurRad="101600" dist="38100" dir="2700000" algn="bl" rotWithShape="0">
              <a:srgbClr val="1E2761">
                <a:alpha val="12000"/>
              </a:srgbClr>
            </a:outerShdw>
          </a:effectLst>
        </p:spPr>
      </p:sp>
      <p:sp>
        <p:nvSpPr>
          <p:cNvPr id="5" name="Shape 3"/>
          <p:cNvSpPr/>
          <p:nvPr/>
        </p:nvSpPr>
        <p:spPr>
          <a:xfrm>
            <a:off x="749808" y="2080260"/>
            <a:ext cx="365760" cy="365760"/>
          </a:xfrm>
          <a:prstGeom prst="ellipse">
            <a:avLst/>
          </a:prstGeom>
          <a:solidFill>
            <a:srgbClr val="1E2761"/>
          </a:solidFill>
          <a:ln/>
        </p:spPr>
      </p:sp>
      <p:sp>
        <p:nvSpPr>
          <p:cNvPr id="6" name="Text 4"/>
          <p:cNvSpPr/>
          <p:nvPr/>
        </p:nvSpPr>
        <p:spPr>
          <a:xfrm>
            <a:off x="749808" y="20802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261872" y="1828800"/>
            <a:ext cx="4495648" cy="868680"/>
          </a:xfrm>
          <a:prstGeom prst="rect">
            <a:avLst/>
          </a:prstGeom>
          <a:noFill/>
          <a:ln/>
        </p:spPr>
        <p:txBody>
          <a:bodyPr wrap="square" lIns="0" tIns="0" rIns="0" bIns="0" rtlCol="0" anchor="ctr"/>
          <a:lstStyle/>
          <a:p>
            <a:pPr marL="0" indent="0">
              <a:buNone/>
            </a:pPr>
            <a:r>
              <a:rPr lang="en-US" sz="1350" dirty="0">
                <a:solidFill>
                  <a:srgbClr val="33415C"/>
                </a:solidFill>
                <a:latin typeface="Calibri" pitchFamily="34" charset="0"/>
                <a:ea typeface="Calibri" pitchFamily="34" charset="-122"/>
                <a:cs typeface="Calibri" pitchFamily="34" charset="-120"/>
              </a:rPr>
              <a:t>Analyze delivery performance across different regions.</a:t>
            </a:r>
            <a:endParaRPr lang="en-US" sz="1350" dirty="0"/>
          </a:p>
        </p:txBody>
      </p:sp>
      <p:sp>
        <p:nvSpPr>
          <p:cNvPr id="8" name="Shape 6"/>
          <p:cNvSpPr/>
          <p:nvPr/>
        </p:nvSpPr>
        <p:spPr>
          <a:xfrm>
            <a:off x="6233008" y="1828800"/>
            <a:ext cx="5410048" cy="868680"/>
          </a:xfrm>
          <a:prstGeom prst="roundRect">
            <a:avLst>
              <a:gd name="adj" fmla="val 8421"/>
            </a:avLst>
          </a:prstGeom>
          <a:solidFill>
            <a:srgbClr val="F5F7FC"/>
          </a:solidFill>
          <a:ln/>
          <a:effectLst>
            <a:outerShdw blurRad="101600" dist="38100" dir="2700000" algn="bl" rotWithShape="0">
              <a:srgbClr val="1E2761">
                <a:alpha val="12000"/>
              </a:srgbClr>
            </a:outerShdw>
          </a:effectLst>
        </p:spPr>
      </p:sp>
      <p:sp>
        <p:nvSpPr>
          <p:cNvPr id="9" name="Shape 7"/>
          <p:cNvSpPr/>
          <p:nvPr/>
        </p:nvSpPr>
        <p:spPr>
          <a:xfrm>
            <a:off x="6434176" y="2080260"/>
            <a:ext cx="365760" cy="365760"/>
          </a:xfrm>
          <a:prstGeom prst="ellipse">
            <a:avLst/>
          </a:prstGeom>
          <a:solidFill>
            <a:srgbClr val="1E2761"/>
          </a:solidFill>
          <a:ln/>
        </p:spPr>
      </p:sp>
      <p:sp>
        <p:nvSpPr>
          <p:cNvPr id="10" name="Text 8"/>
          <p:cNvSpPr/>
          <p:nvPr/>
        </p:nvSpPr>
        <p:spPr>
          <a:xfrm>
            <a:off x="6434176" y="20802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6946240" y="1828800"/>
            <a:ext cx="4495648" cy="868680"/>
          </a:xfrm>
          <a:prstGeom prst="rect">
            <a:avLst/>
          </a:prstGeom>
          <a:noFill/>
          <a:ln/>
        </p:spPr>
        <p:txBody>
          <a:bodyPr wrap="square" lIns="0" tIns="0" rIns="0" bIns="0" rtlCol="0" anchor="ctr"/>
          <a:lstStyle/>
          <a:p>
            <a:pPr marL="0" indent="0">
              <a:buNone/>
            </a:pPr>
            <a:r>
              <a:rPr lang="en-US" sz="1350" dirty="0">
                <a:solidFill>
                  <a:srgbClr val="33415C"/>
                </a:solidFill>
                <a:latin typeface="Calibri" pitchFamily="34" charset="0"/>
                <a:ea typeface="Calibri" pitchFamily="34" charset="-122"/>
                <a:cs typeface="Calibri" pitchFamily="34" charset="-120"/>
              </a:rPr>
              <a:t>Identify delayed and on-time deliveries.</a:t>
            </a:r>
            <a:endParaRPr lang="en-US" sz="1350" dirty="0"/>
          </a:p>
        </p:txBody>
      </p:sp>
      <p:sp>
        <p:nvSpPr>
          <p:cNvPr id="12" name="Shape 10"/>
          <p:cNvSpPr/>
          <p:nvPr/>
        </p:nvSpPr>
        <p:spPr>
          <a:xfrm>
            <a:off x="548640" y="2971800"/>
            <a:ext cx="5410048" cy="868680"/>
          </a:xfrm>
          <a:prstGeom prst="roundRect">
            <a:avLst>
              <a:gd name="adj" fmla="val 8421"/>
            </a:avLst>
          </a:prstGeom>
          <a:solidFill>
            <a:srgbClr val="F5F7FC"/>
          </a:solidFill>
          <a:ln/>
          <a:effectLst>
            <a:outerShdw blurRad="101600" dist="38100" dir="2700000" algn="bl" rotWithShape="0">
              <a:srgbClr val="1E2761">
                <a:alpha val="12000"/>
              </a:srgbClr>
            </a:outerShdw>
          </a:effectLst>
        </p:spPr>
      </p:sp>
      <p:sp>
        <p:nvSpPr>
          <p:cNvPr id="13" name="Shape 11"/>
          <p:cNvSpPr/>
          <p:nvPr/>
        </p:nvSpPr>
        <p:spPr>
          <a:xfrm>
            <a:off x="749808" y="3223260"/>
            <a:ext cx="365760" cy="365760"/>
          </a:xfrm>
          <a:prstGeom prst="ellipse">
            <a:avLst/>
          </a:prstGeom>
          <a:solidFill>
            <a:srgbClr val="1E2761"/>
          </a:solidFill>
          <a:ln/>
        </p:spPr>
      </p:sp>
      <p:sp>
        <p:nvSpPr>
          <p:cNvPr id="14" name="Text 12"/>
          <p:cNvSpPr/>
          <p:nvPr/>
        </p:nvSpPr>
        <p:spPr>
          <a:xfrm>
            <a:off x="749808" y="32232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261872" y="2971800"/>
            <a:ext cx="4495648" cy="868680"/>
          </a:xfrm>
          <a:prstGeom prst="rect">
            <a:avLst/>
          </a:prstGeom>
          <a:noFill/>
          <a:ln/>
        </p:spPr>
        <p:txBody>
          <a:bodyPr wrap="square" lIns="0" tIns="0" rIns="0" bIns="0" rtlCol="0" anchor="ctr"/>
          <a:lstStyle/>
          <a:p>
            <a:pPr marL="0" indent="0">
              <a:buNone/>
            </a:pPr>
            <a:r>
              <a:rPr lang="en-US" sz="1350" dirty="0">
                <a:solidFill>
                  <a:srgbClr val="33415C"/>
                </a:solidFill>
                <a:latin typeface="Calibri" pitchFamily="34" charset="0"/>
                <a:ea typeface="Calibri" pitchFamily="34" charset="-122"/>
                <a:cs typeface="Calibri" pitchFamily="34" charset="-120"/>
              </a:rPr>
              <a:t>Evaluate shipping mode performance.</a:t>
            </a:r>
            <a:endParaRPr lang="en-US" sz="1350" dirty="0"/>
          </a:p>
        </p:txBody>
      </p:sp>
      <p:sp>
        <p:nvSpPr>
          <p:cNvPr id="16" name="Shape 14"/>
          <p:cNvSpPr/>
          <p:nvPr/>
        </p:nvSpPr>
        <p:spPr>
          <a:xfrm>
            <a:off x="6233008" y="2971800"/>
            <a:ext cx="5410048" cy="868680"/>
          </a:xfrm>
          <a:prstGeom prst="roundRect">
            <a:avLst>
              <a:gd name="adj" fmla="val 8421"/>
            </a:avLst>
          </a:prstGeom>
          <a:solidFill>
            <a:srgbClr val="F5F7FC"/>
          </a:solidFill>
          <a:ln/>
          <a:effectLst>
            <a:outerShdw blurRad="101600" dist="38100" dir="2700000" algn="bl" rotWithShape="0">
              <a:srgbClr val="1E2761">
                <a:alpha val="12000"/>
              </a:srgbClr>
            </a:outerShdw>
          </a:effectLst>
        </p:spPr>
      </p:sp>
      <p:sp>
        <p:nvSpPr>
          <p:cNvPr id="17" name="Shape 15"/>
          <p:cNvSpPr/>
          <p:nvPr/>
        </p:nvSpPr>
        <p:spPr>
          <a:xfrm>
            <a:off x="6434176" y="3223260"/>
            <a:ext cx="365760" cy="365760"/>
          </a:xfrm>
          <a:prstGeom prst="ellipse">
            <a:avLst/>
          </a:prstGeom>
          <a:solidFill>
            <a:srgbClr val="1E2761"/>
          </a:solidFill>
          <a:ln/>
        </p:spPr>
      </p:sp>
      <p:sp>
        <p:nvSpPr>
          <p:cNvPr id="18" name="Text 16"/>
          <p:cNvSpPr/>
          <p:nvPr/>
        </p:nvSpPr>
        <p:spPr>
          <a:xfrm>
            <a:off x="6434176" y="32232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6946240" y="2971800"/>
            <a:ext cx="4495648" cy="868680"/>
          </a:xfrm>
          <a:prstGeom prst="rect">
            <a:avLst/>
          </a:prstGeom>
          <a:noFill/>
          <a:ln/>
        </p:spPr>
        <p:txBody>
          <a:bodyPr wrap="square" lIns="0" tIns="0" rIns="0" bIns="0" rtlCol="0" anchor="ctr"/>
          <a:lstStyle/>
          <a:p>
            <a:pPr marL="0" indent="0">
              <a:buNone/>
            </a:pPr>
            <a:r>
              <a:rPr lang="en-US" sz="1350" dirty="0">
                <a:solidFill>
                  <a:srgbClr val="33415C"/>
                </a:solidFill>
                <a:latin typeface="Calibri" pitchFamily="34" charset="0"/>
                <a:ea typeface="Calibri" pitchFamily="34" charset="-122"/>
                <a:cs typeface="Calibri" pitchFamily="34" charset="-120"/>
              </a:rPr>
              <a:t>Analyze supplier and product category performance.</a:t>
            </a:r>
            <a:endParaRPr lang="en-US" sz="1350" dirty="0"/>
          </a:p>
        </p:txBody>
      </p:sp>
      <p:sp>
        <p:nvSpPr>
          <p:cNvPr id="20" name="Shape 18"/>
          <p:cNvSpPr/>
          <p:nvPr/>
        </p:nvSpPr>
        <p:spPr>
          <a:xfrm>
            <a:off x="548640" y="4114800"/>
            <a:ext cx="5410048" cy="868680"/>
          </a:xfrm>
          <a:prstGeom prst="roundRect">
            <a:avLst>
              <a:gd name="adj" fmla="val 8421"/>
            </a:avLst>
          </a:prstGeom>
          <a:solidFill>
            <a:srgbClr val="F5F7FC"/>
          </a:solidFill>
          <a:ln/>
          <a:effectLst>
            <a:outerShdw blurRad="101600" dist="38100" dir="2700000" algn="bl" rotWithShape="0">
              <a:srgbClr val="1E2761">
                <a:alpha val="12000"/>
              </a:srgbClr>
            </a:outerShdw>
          </a:effectLst>
        </p:spPr>
      </p:sp>
      <p:sp>
        <p:nvSpPr>
          <p:cNvPr id="21" name="Shape 19"/>
          <p:cNvSpPr/>
          <p:nvPr/>
        </p:nvSpPr>
        <p:spPr>
          <a:xfrm>
            <a:off x="749808" y="4366260"/>
            <a:ext cx="365760" cy="365760"/>
          </a:xfrm>
          <a:prstGeom prst="ellipse">
            <a:avLst/>
          </a:prstGeom>
          <a:solidFill>
            <a:srgbClr val="1E2761"/>
          </a:solidFill>
          <a:ln/>
        </p:spPr>
      </p:sp>
      <p:sp>
        <p:nvSpPr>
          <p:cNvPr id="22" name="Text 20"/>
          <p:cNvSpPr/>
          <p:nvPr/>
        </p:nvSpPr>
        <p:spPr>
          <a:xfrm>
            <a:off x="749808" y="43662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p:nvPr/>
        </p:nvSpPr>
        <p:spPr>
          <a:xfrm>
            <a:off x="1261872" y="4114800"/>
            <a:ext cx="4495648" cy="868680"/>
          </a:xfrm>
          <a:prstGeom prst="rect">
            <a:avLst/>
          </a:prstGeom>
          <a:noFill/>
          <a:ln/>
        </p:spPr>
        <p:txBody>
          <a:bodyPr wrap="square" lIns="0" tIns="0" rIns="0" bIns="0" rtlCol="0" anchor="ctr"/>
          <a:lstStyle/>
          <a:p>
            <a:pPr marL="0" indent="0">
              <a:buNone/>
            </a:pPr>
            <a:r>
              <a:rPr lang="en-US" sz="1350" dirty="0">
                <a:solidFill>
                  <a:srgbClr val="33415C"/>
                </a:solidFill>
                <a:latin typeface="Calibri" pitchFamily="34" charset="0"/>
                <a:ea typeface="Calibri" pitchFamily="34" charset="-122"/>
                <a:cs typeface="Calibri" pitchFamily="34" charset="-120"/>
              </a:rPr>
              <a:t>Monitor order status distribution.</a:t>
            </a:r>
            <a:endParaRPr lang="en-US" sz="1350" dirty="0"/>
          </a:p>
        </p:txBody>
      </p:sp>
      <p:sp>
        <p:nvSpPr>
          <p:cNvPr id="24" name="Shape 22"/>
          <p:cNvSpPr/>
          <p:nvPr/>
        </p:nvSpPr>
        <p:spPr>
          <a:xfrm>
            <a:off x="6233008" y="4114800"/>
            <a:ext cx="5410048" cy="868680"/>
          </a:xfrm>
          <a:prstGeom prst="roundRect">
            <a:avLst>
              <a:gd name="adj" fmla="val 8421"/>
            </a:avLst>
          </a:prstGeom>
          <a:solidFill>
            <a:srgbClr val="F5F7FC"/>
          </a:solidFill>
          <a:ln/>
          <a:effectLst>
            <a:outerShdw blurRad="101600" dist="38100" dir="2700000" algn="bl" rotWithShape="0">
              <a:srgbClr val="1E2761">
                <a:alpha val="12000"/>
              </a:srgbClr>
            </a:outerShdw>
          </a:effectLst>
        </p:spPr>
      </p:sp>
      <p:sp>
        <p:nvSpPr>
          <p:cNvPr id="25" name="Shape 23"/>
          <p:cNvSpPr/>
          <p:nvPr/>
        </p:nvSpPr>
        <p:spPr>
          <a:xfrm>
            <a:off x="6434176" y="4366260"/>
            <a:ext cx="365760" cy="365760"/>
          </a:xfrm>
          <a:prstGeom prst="ellipse">
            <a:avLst/>
          </a:prstGeom>
          <a:solidFill>
            <a:srgbClr val="1E2761"/>
          </a:solidFill>
          <a:ln/>
        </p:spPr>
      </p:sp>
      <p:sp>
        <p:nvSpPr>
          <p:cNvPr id="26" name="Text 24"/>
          <p:cNvSpPr/>
          <p:nvPr/>
        </p:nvSpPr>
        <p:spPr>
          <a:xfrm>
            <a:off x="6434176" y="43662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7" name="Text 25"/>
          <p:cNvSpPr/>
          <p:nvPr/>
        </p:nvSpPr>
        <p:spPr>
          <a:xfrm>
            <a:off x="6946240" y="4114800"/>
            <a:ext cx="4495648" cy="868680"/>
          </a:xfrm>
          <a:prstGeom prst="rect">
            <a:avLst/>
          </a:prstGeom>
          <a:noFill/>
          <a:ln/>
        </p:spPr>
        <p:txBody>
          <a:bodyPr wrap="square" lIns="0" tIns="0" rIns="0" bIns="0" rtlCol="0" anchor="ctr"/>
          <a:lstStyle/>
          <a:p>
            <a:pPr marL="0" indent="0">
              <a:buNone/>
            </a:pPr>
            <a:r>
              <a:rPr lang="en-US" sz="1350" dirty="0">
                <a:solidFill>
                  <a:srgbClr val="33415C"/>
                </a:solidFill>
                <a:latin typeface="Calibri" pitchFamily="34" charset="0"/>
                <a:ea typeface="Calibri" pitchFamily="34" charset="-122"/>
                <a:cs typeface="Calibri" pitchFamily="34" charset="-120"/>
              </a:rPr>
              <a:t>Measure logistics efficiency using KPIs.</a:t>
            </a:r>
            <a:endParaRPr lang="en-US" sz="1350" dirty="0"/>
          </a:p>
        </p:txBody>
      </p:sp>
      <p:sp>
        <p:nvSpPr>
          <p:cNvPr id="28" name="Shape 26"/>
          <p:cNvSpPr/>
          <p:nvPr/>
        </p:nvSpPr>
        <p:spPr>
          <a:xfrm>
            <a:off x="548640" y="5257800"/>
            <a:ext cx="5410048" cy="868680"/>
          </a:xfrm>
          <a:prstGeom prst="roundRect">
            <a:avLst>
              <a:gd name="adj" fmla="val 8421"/>
            </a:avLst>
          </a:prstGeom>
          <a:solidFill>
            <a:srgbClr val="F5F7FC"/>
          </a:solidFill>
          <a:ln/>
          <a:effectLst>
            <a:outerShdw blurRad="101600" dist="38100" dir="2700000" algn="bl" rotWithShape="0">
              <a:srgbClr val="1E2761">
                <a:alpha val="12000"/>
              </a:srgbClr>
            </a:outerShdw>
          </a:effectLst>
        </p:spPr>
      </p:sp>
      <p:sp>
        <p:nvSpPr>
          <p:cNvPr id="29" name="Shape 27"/>
          <p:cNvSpPr/>
          <p:nvPr/>
        </p:nvSpPr>
        <p:spPr>
          <a:xfrm>
            <a:off x="749808" y="5509260"/>
            <a:ext cx="365760" cy="365760"/>
          </a:xfrm>
          <a:prstGeom prst="ellipse">
            <a:avLst/>
          </a:prstGeom>
          <a:solidFill>
            <a:srgbClr val="1E2761"/>
          </a:solidFill>
          <a:ln/>
        </p:spPr>
      </p:sp>
      <p:sp>
        <p:nvSpPr>
          <p:cNvPr id="30" name="Text 28"/>
          <p:cNvSpPr/>
          <p:nvPr/>
        </p:nvSpPr>
        <p:spPr>
          <a:xfrm>
            <a:off x="749808" y="55092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1" name="Text 29"/>
          <p:cNvSpPr/>
          <p:nvPr/>
        </p:nvSpPr>
        <p:spPr>
          <a:xfrm>
            <a:off x="1261872" y="5257800"/>
            <a:ext cx="4495648" cy="868680"/>
          </a:xfrm>
          <a:prstGeom prst="rect">
            <a:avLst/>
          </a:prstGeom>
          <a:noFill/>
          <a:ln/>
        </p:spPr>
        <p:txBody>
          <a:bodyPr wrap="square" lIns="0" tIns="0" rIns="0" bIns="0" rtlCol="0" anchor="ctr"/>
          <a:lstStyle/>
          <a:p>
            <a:pPr marL="0" indent="0">
              <a:buNone/>
            </a:pPr>
            <a:r>
              <a:rPr lang="en-US" sz="1350" dirty="0">
                <a:solidFill>
                  <a:srgbClr val="33415C"/>
                </a:solidFill>
                <a:latin typeface="Calibri" pitchFamily="34" charset="0"/>
                <a:ea typeface="Calibri" pitchFamily="34" charset="-122"/>
                <a:cs typeface="Calibri" pitchFamily="34" charset="-120"/>
              </a:rPr>
              <a:t>Develop interactive Power BI dashboards.</a:t>
            </a:r>
            <a:endParaRPr lang="en-US" sz="1350" dirty="0"/>
          </a:p>
        </p:txBody>
      </p:sp>
      <p:sp>
        <p:nvSpPr>
          <p:cNvPr id="32" name="Shape 30"/>
          <p:cNvSpPr/>
          <p:nvPr/>
        </p:nvSpPr>
        <p:spPr>
          <a:xfrm>
            <a:off x="6233008" y="5257800"/>
            <a:ext cx="5410048" cy="868680"/>
          </a:xfrm>
          <a:prstGeom prst="roundRect">
            <a:avLst>
              <a:gd name="adj" fmla="val 8421"/>
            </a:avLst>
          </a:prstGeom>
          <a:solidFill>
            <a:srgbClr val="F5F7FC"/>
          </a:solidFill>
          <a:ln/>
          <a:effectLst>
            <a:outerShdw blurRad="101600" dist="38100" dir="2700000" algn="bl" rotWithShape="0">
              <a:srgbClr val="1E2761">
                <a:alpha val="12000"/>
              </a:srgbClr>
            </a:outerShdw>
          </a:effectLst>
        </p:spPr>
      </p:sp>
      <p:sp>
        <p:nvSpPr>
          <p:cNvPr id="33" name="Shape 31"/>
          <p:cNvSpPr/>
          <p:nvPr/>
        </p:nvSpPr>
        <p:spPr>
          <a:xfrm>
            <a:off x="6434176" y="5509260"/>
            <a:ext cx="365760" cy="365760"/>
          </a:xfrm>
          <a:prstGeom prst="ellipse">
            <a:avLst/>
          </a:prstGeom>
          <a:solidFill>
            <a:srgbClr val="1E2761"/>
          </a:solidFill>
          <a:ln/>
        </p:spPr>
      </p:sp>
      <p:sp>
        <p:nvSpPr>
          <p:cNvPr id="34" name="Text 32"/>
          <p:cNvSpPr/>
          <p:nvPr/>
        </p:nvSpPr>
        <p:spPr>
          <a:xfrm>
            <a:off x="6434176" y="55092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5" name="Text 33"/>
          <p:cNvSpPr/>
          <p:nvPr/>
        </p:nvSpPr>
        <p:spPr>
          <a:xfrm>
            <a:off x="6946240" y="5257800"/>
            <a:ext cx="4495648" cy="868680"/>
          </a:xfrm>
          <a:prstGeom prst="rect">
            <a:avLst/>
          </a:prstGeom>
          <a:noFill/>
          <a:ln/>
        </p:spPr>
        <p:txBody>
          <a:bodyPr wrap="square" lIns="0" tIns="0" rIns="0" bIns="0" rtlCol="0" anchor="ctr"/>
          <a:lstStyle/>
          <a:p>
            <a:pPr marL="0" indent="0">
              <a:buNone/>
            </a:pPr>
            <a:r>
              <a:rPr lang="en-US" sz="1350" dirty="0">
                <a:solidFill>
                  <a:srgbClr val="33415C"/>
                </a:solidFill>
                <a:latin typeface="Calibri" pitchFamily="34" charset="0"/>
                <a:ea typeface="Calibri" pitchFamily="34" charset="-122"/>
                <a:cs typeface="Calibri" pitchFamily="34" charset="-120"/>
              </a:rPr>
              <a:t>Generate business insights for decision-making.</a:t>
            </a:r>
            <a:endParaRPr lang="en-US" sz="1350" dirty="0"/>
          </a:p>
        </p:txBody>
      </p:sp>
      <p:sp>
        <p:nvSpPr>
          <p:cNvPr id="36" name="Text 34"/>
          <p:cNvSpPr/>
          <p:nvPr/>
        </p:nvSpPr>
        <p:spPr>
          <a:xfrm>
            <a:off x="11551615" y="6446520"/>
            <a:ext cx="365760" cy="274320"/>
          </a:xfrm>
          <a:prstGeom prst="rect">
            <a:avLst/>
          </a:prstGeom>
          <a:noFill/>
          <a:ln/>
        </p:spPr>
        <p:txBody>
          <a:bodyPr wrap="square" lIns="0" tIns="0" rIns="0" bIns="0" rtlCol="0" anchor="ctr"/>
          <a:lstStyle/>
          <a:p>
            <a:pPr marL="0" indent="0" algn="r">
              <a:buNone/>
            </a:pP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Dataset &amp; Data Preparation</a:t>
            </a:r>
            <a:endParaRPr lang="en-US" sz="3200" dirty="0"/>
          </a:p>
        </p:txBody>
      </p:sp>
      <p:sp>
        <p:nvSpPr>
          <p:cNvPr id="3" name="Text 1"/>
          <p:cNvSpPr/>
          <p:nvPr/>
        </p:nvSpPr>
        <p:spPr>
          <a:xfrm>
            <a:off x="548640" y="1463040"/>
            <a:ext cx="4937760" cy="411480"/>
          </a:xfrm>
          <a:prstGeom prst="rect">
            <a:avLst/>
          </a:prstGeom>
          <a:noFill/>
          <a:ln/>
        </p:spPr>
        <p:txBody>
          <a:bodyPr wrap="square" lIns="0" tIns="0" rIns="0" bIns="0" rtlCol="0" anchor="ctr"/>
          <a:lstStyle/>
          <a:p>
            <a:pPr marL="0" indent="0">
              <a:buNone/>
            </a:pPr>
            <a:r>
              <a:rPr lang="en-US" sz="1900" b="1" dirty="0">
                <a:solidFill>
                  <a:srgbClr val="1E2761"/>
                </a:solidFill>
                <a:latin typeface="Cambria" pitchFamily="34" charset="0"/>
                <a:ea typeface="Cambria" pitchFamily="34" charset="-122"/>
                <a:cs typeface="Cambria" pitchFamily="34" charset="-120"/>
              </a:rPr>
              <a:t>Dataset Information</a:t>
            </a:r>
            <a:endParaRPr lang="en-US" sz="1900" dirty="0"/>
          </a:p>
        </p:txBody>
      </p:sp>
      <p:sp>
        <p:nvSpPr>
          <p:cNvPr id="4" name="Shape 2"/>
          <p:cNvSpPr/>
          <p:nvPr/>
        </p:nvSpPr>
        <p:spPr>
          <a:xfrm>
            <a:off x="548640" y="2011680"/>
            <a:ext cx="4937760" cy="1737360"/>
          </a:xfrm>
          <a:prstGeom prst="roundRect">
            <a:avLst>
              <a:gd name="adj" fmla="val 5263"/>
            </a:avLst>
          </a:prstGeom>
          <a:solidFill>
            <a:srgbClr val="F5F7FC"/>
          </a:solidFill>
          <a:ln/>
          <a:effectLst>
            <a:outerShdw blurRad="101600" dist="38100" dir="2700000" algn="bl" rotWithShape="0">
              <a:srgbClr val="1E2761">
                <a:alpha val="12000"/>
              </a:srgbClr>
            </a:outerShdw>
          </a:effectLst>
        </p:spPr>
      </p:sp>
      <p:sp>
        <p:nvSpPr>
          <p:cNvPr id="5" name="Text 3"/>
          <p:cNvSpPr/>
          <p:nvPr/>
        </p:nvSpPr>
        <p:spPr>
          <a:xfrm>
            <a:off x="868680" y="2176272"/>
            <a:ext cx="4297680" cy="320040"/>
          </a:xfrm>
          <a:prstGeom prst="rect">
            <a:avLst/>
          </a:prstGeom>
          <a:noFill/>
          <a:ln/>
        </p:spPr>
        <p:txBody>
          <a:bodyPr wrap="square" lIns="0" tIns="0" rIns="0" bIns="0" rtlCol="0" anchor="ctr"/>
          <a:lstStyle/>
          <a:p>
            <a:pPr marL="0" indent="0">
              <a:buNone/>
            </a:pPr>
            <a:r>
              <a:rPr lang="en-US" sz="1400" dirty="0">
                <a:solidFill>
                  <a:srgbClr val="5A6B87"/>
                </a:solidFill>
                <a:latin typeface="Calibri" pitchFamily="34" charset="0"/>
                <a:ea typeface="Calibri" pitchFamily="34" charset="-122"/>
                <a:cs typeface="Calibri" pitchFamily="34" charset="-120"/>
              </a:rPr>
              <a:t>Dataset</a:t>
            </a:r>
            <a:endParaRPr lang="en-US" sz="1400" dirty="0"/>
          </a:p>
        </p:txBody>
      </p:sp>
      <p:sp>
        <p:nvSpPr>
          <p:cNvPr id="6" name="Text 4"/>
          <p:cNvSpPr/>
          <p:nvPr/>
        </p:nvSpPr>
        <p:spPr>
          <a:xfrm>
            <a:off x="868680" y="2468880"/>
            <a:ext cx="4297680" cy="36576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DataCo Supply Chain Dataset</a:t>
            </a:r>
            <a:endParaRPr lang="en-US" sz="1700" dirty="0"/>
          </a:p>
        </p:txBody>
      </p:sp>
      <p:sp>
        <p:nvSpPr>
          <p:cNvPr id="7" name="Text 5"/>
          <p:cNvSpPr/>
          <p:nvPr/>
        </p:nvSpPr>
        <p:spPr>
          <a:xfrm>
            <a:off x="868680" y="2971800"/>
            <a:ext cx="2011680" cy="50292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180,519</a:t>
            </a:r>
            <a:endParaRPr lang="en-US" sz="2600" dirty="0"/>
          </a:p>
        </p:txBody>
      </p:sp>
      <p:sp>
        <p:nvSpPr>
          <p:cNvPr id="8" name="Text 6"/>
          <p:cNvSpPr/>
          <p:nvPr/>
        </p:nvSpPr>
        <p:spPr>
          <a:xfrm>
            <a:off x="868680" y="3456432"/>
            <a:ext cx="2011680" cy="274320"/>
          </a:xfrm>
          <a:prstGeom prst="rect">
            <a:avLst/>
          </a:prstGeom>
          <a:noFill/>
          <a:ln/>
        </p:spPr>
        <p:txBody>
          <a:bodyPr wrap="square" lIns="0" tIns="0" rIns="0" bIns="0" rtlCol="0" anchor="ctr"/>
          <a:lstStyle/>
          <a:p>
            <a:pPr marL="0" indent="0">
              <a:buNone/>
            </a:pPr>
            <a:r>
              <a:rPr lang="en-US" sz="1200" dirty="0">
                <a:solidFill>
                  <a:srgbClr val="5A6B87"/>
                </a:solidFill>
                <a:latin typeface="Calibri" pitchFamily="34" charset="0"/>
                <a:ea typeface="Calibri" pitchFamily="34" charset="-122"/>
                <a:cs typeface="Calibri" pitchFamily="34" charset="-120"/>
              </a:rPr>
              <a:t>Total Records</a:t>
            </a:r>
            <a:endParaRPr lang="en-US" sz="1200" dirty="0"/>
          </a:p>
        </p:txBody>
      </p:sp>
      <p:sp>
        <p:nvSpPr>
          <p:cNvPr id="9" name="Text 7"/>
          <p:cNvSpPr/>
          <p:nvPr/>
        </p:nvSpPr>
        <p:spPr>
          <a:xfrm>
            <a:off x="3108960" y="2971800"/>
            <a:ext cx="2011680" cy="50292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53</a:t>
            </a:r>
            <a:endParaRPr lang="en-US" sz="2600" dirty="0"/>
          </a:p>
        </p:txBody>
      </p:sp>
      <p:sp>
        <p:nvSpPr>
          <p:cNvPr id="10" name="Text 8"/>
          <p:cNvSpPr/>
          <p:nvPr/>
        </p:nvSpPr>
        <p:spPr>
          <a:xfrm>
            <a:off x="3108960" y="3456432"/>
            <a:ext cx="2011680" cy="274320"/>
          </a:xfrm>
          <a:prstGeom prst="rect">
            <a:avLst/>
          </a:prstGeom>
          <a:noFill/>
          <a:ln/>
        </p:spPr>
        <p:txBody>
          <a:bodyPr wrap="square" lIns="0" tIns="0" rIns="0" bIns="0" rtlCol="0" anchor="ctr"/>
          <a:lstStyle/>
          <a:p>
            <a:pPr marL="0" indent="0">
              <a:buNone/>
            </a:pPr>
            <a:r>
              <a:rPr lang="en-US" sz="1200" dirty="0">
                <a:solidFill>
                  <a:srgbClr val="5A6B87"/>
                </a:solidFill>
                <a:latin typeface="Calibri" pitchFamily="34" charset="0"/>
                <a:ea typeface="Calibri" pitchFamily="34" charset="-122"/>
                <a:cs typeface="Calibri" pitchFamily="34" charset="-120"/>
              </a:rPr>
              <a:t>Total Columns</a:t>
            </a:r>
            <a:endParaRPr lang="en-US" sz="1200" dirty="0"/>
          </a:p>
        </p:txBody>
      </p:sp>
      <p:sp>
        <p:nvSpPr>
          <p:cNvPr id="11" name="Text 9"/>
          <p:cNvSpPr/>
          <p:nvPr/>
        </p:nvSpPr>
        <p:spPr>
          <a:xfrm>
            <a:off x="5897880" y="1463040"/>
            <a:ext cx="5760720" cy="411480"/>
          </a:xfrm>
          <a:prstGeom prst="rect">
            <a:avLst/>
          </a:prstGeom>
          <a:noFill/>
          <a:ln/>
        </p:spPr>
        <p:txBody>
          <a:bodyPr wrap="square" lIns="0" tIns="0" rIns="0" bIns="0" rtlCol="0" anchor="ctr"/>
          <a:lstStyle/>
          <a:p>
            <a:pPr marL="0" indent="0">
              <a:buNone/>
            </a:pPr>
            <a:r>
              <a:rPr lang="en-US" sz="1900" b="1" dirty="0">
                <a:solidFill>
                  <a:srgbClr val="1E2761"/>
                </a:solidFill>
                <a:latin typeface="Cambria" pitchFamily="34" charset="0"/>
                <a:ea typeface="Cambria" pitchFamily="34" charset="-122"/>
                <a:cs typeface="Cambria" pitchFamily="34" charset="-120"/>
              </a:rPr>
              <a:t>Data Preparation</a:t>
            </a:r>
            <a:endParaRPr lang="en-US" sz="1900" dirty="0"/>
          </a:p>
        </p:txBody>
      </p:sp>
      <p:sp>
        <p:nvSpPr>
          <p:cNvPr id="12" name="Shape 10"/>
          <p:cNvSpPr/>
          <p:nvPr/>
        </p:nvSpPr>
        <p:spPr>
          <a:xfrm>
            <a:off x="5897880" y="2084832"/>
            <a:ext cx="292608" cy="292608"/>
          </a:xfrm>
          <a:prstGeom prst="ellipse">
            <a:avLst/>
          </a:prstGeom>
          <a:solidFill>
            <a:srgbClr val="1E2761"/>
          </a:solidFill>
          <a:ln/>
        </p:spPr>
      </p:sp>
      <p:sp>
        <p:nvSpPr>
          <p:cNvPr id="13" name="Text 11"/>
          <p:cNvSpPr/>
          <p:nvPr/>
        </p:nvSpPr>
        <p:spPr>
          <a:xfrm>
            <a:off x="5897880" y="208483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2"/>
          <p:cNvSpPr/>
          <p:nvPr/>
        </p:nvSpPr>
        <p:spPr>
          <a:xfrm>
            <a:off x="6355080" y="2020824"/>
            <a:ext cx="5303520" cy="420624"/>
          </a:xfrm>
          <a:prstGeom prst="rect">
            <a:avLst/>
          </a:prstGeom>
          <a:noFill/>
          <a:ln/>
        </p:spPr>
        <p:txBody>
          <a:bodyPr wrap="square" lIns="0" tIns="0" rIns="0" bIns="0" rtlCol="0" anchor="ctr"/>
          <a:lstStyle/>
          <a:p>
            <a:pPr marL="0" indent="0">
              <a:buNone/>
            </a:pPr>
            <a:r>
              <a:rPr lang="en-US" sz="1450" dirty="0">
                <a:solidFill>
                  <a:srgbClr val="33415C"/>
                </a:solidFill>
                <a:latin typeface="Calibri" pitchFamily="34" charset="0"/>
                <a:ea typeface="Calibri" pitchFamily="34" charset="-122"/>
                <a:cs typeface="Calibri" pitchFamily="34" charset="-120"/>
              </a:rPr>
              <a:t>Duplicate Record Verification</a:t>
            </a:r>
            <a:endParaRPr lang="en-US" sz="1450" dirty="0"/>
          </a:p>
        </p:txBody>
      </p:sp>
      <p:sp>
        <p:nvSpPr>
          <p:cNvPr id="15" name="Shape 13"/>
          <p:cNvSpPr/>
          <p:nvPr/>
        </p:nvSpPr>
        <p:spPr>
          <a:xfrm>
            <a:off x="5897880" y="2651760"/>
            <a:ext cx="292608" cy="292608"/>
          </a:xfrm>
          <a:prstGeom prst="ellipse">
            <a:avLst/>
          </a:prstGeom>
          <a:solidFill>
            <a:srgbClr val="1E2761"/>
          </a:solidFill>
          <a:ln/>
        </p:spPr>
      </p:sp>
      <p:sp>
        <p:nvSpPr>
          <p:cNvPr id="16" name="Text 14"/>
          <p:cNvSpPr/>
          <p:nvPr/>
        </p:nvSpPr>
        <p:spPr>
          <a:xfrm>
            <a:off x="5897880" y="26517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6355080" y="2587752"/>
            <a:ext cx="5303520" cy="420624"/>
          </a:xfrm>
          <a:prstGeom prst="rect">
            <a:avLst/>
          </a:prstGeom>
          <a:noFill/>
          <a:ln/>
        </p:spPr>
        <p:txBody>
          <a:bodyPr wrap="square" lIns="0" tIns="0" rIns="0" bIns="0" rtlCol="0" anchor="ctr"/>
          <a:lstStyle/>
          <a:p>
            <a:pPr marL="0" indent="0">
              <a:buNone/>
            </a:pPr>
            <a:r>
              <a:rPr lang="en-US" sz="1450" dirty="0">
                <a:solidFill>
                  <a:srgbClr val="33415C"/>
                </a:solidFill>
                <a:latin typeface="Calibri" pitchFamily="34" charset="0"/>
                <a:ea typeface="Calibri" pitchFamily="34" charset="-122"/>
                <a:cs typeface="Calibri" pitchFamily="34" charset="-120"/>
              </a:rPr>
              <a:t>Missing Value Analysis</a:t>
            </a:r>
            <a:endParaRPr lang="en-US" sz="1450" dirty="0"/>
          </a:p>
        </p:txBody>
      </p:sp>
      <p:sp>
        <p:nvSpPr>
          <p:cNvPr id="18" name="Shape 16"/>
          <p:cNvSpPr/>
          <p:nvPr/>
        </p:nvSpPr>
        <p:spPr>
          <a:xfrm>
            <a:off x="5897880" y="3218688"/>
            <a:ext cx="292608" cy="292608"/>
          </a:xfrm>
          <a:prstGeom prst="ellipse">
            <a:avLst/>
          </a:prstGeom>
          <a:solidFill>
            <a:srgbClr val="1E2761"/>
          </a:solidFill>
          <a:ln/>
        </p:spPr>
      </p:sp>
      <p:sp>
        <p:nvSpPr>
          <p:cNvPr id="19" name="Text 17"/>
          <p:cNvSpPr/>
          <p:nvPr/>
        </p:nvSpPr>
        <p:spPr>
          <a:xfrm>
            <a:off x="5897880" y="321868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6355080" y="3154680"/>
            <a:ext cx="5303520" cy="420624"/>
          </a:xfrm>
          <a:prstGeom prst="rect">
            <a:avLst/>
          </a:prstGeom>
          <a:noFill/>
          <a:ln/>
        </p:spPr>
        <p:txBody>
          <a:bodyPr wrap="square" lIns="0" tIns="0" rIns="0" bIns="0" rtlCol="0" anchor="ctr"/>
          <a:lstStyle/>
          <a:p>
            <a:pPr marL="0" indent="0">
              <a:buNone/>
            </a:pPr>
            <a:r>
              <a:rPr lang="en-US" sz="1450" dirty="0">
                <a:solidFill>
                  <a:srgbClr val="33415C"/>
                </a:solidFill>
                <a:latin typeface="Calibri" pitchFamily="34" charset="0"/>
                <a:ea typeface="Calibri" pitchFamily="34" charset="-122"/>
                <a:cs typeface="Calibri" pitchFamily="34" charset="-120"/>
              </a:rPr>
              <a:t>Removed unnecessary columns</a:t>
            </a:r>
            <a:endParaRPr lang="en-US" sz="1450" dirty="0"/>
          </a:p>
        </p:txBody>
      </p:sp>
      <p:sp>
        <p:nvSpPr>
          <p:cNvPr id="21" name="Shape 19"/>
          <p:cNvSpPr/>
          <p:nvPr/>
        </p:nvSpPr>
        <p:spPr>
          <a:xfrm>
            <a:off x="5897880" y="3785616"/>
            <a:ext cx="292608" cy="292608"/>
          </a:xfrm>
          <a:prstGeom prst="ellipse">
            <a:avLst/>
          </a:prstGeom>
          <a:solidFill>
            <a:srgbClr val="1E2761"/>
          </a:solidFill>
          <a:ln/>
        </p:spPr>
      </p:sp>
      <p:sp>
        <p:nvSpPr>
          <p:cNvPr id="22" name="Text 20"/>
          <p:cNvSpPr/>
          <p:nvPr/>
        </p:nvSpPr>
        <p:spPr>
          <a:xfrm>
            <a:off x="5897880" y="378561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6355080" y="3721608"/>
            <a:ext cx="5303520" cy="420624"/>
          </a:xfrm>
          <a:prstGeom prst="rect">
            <a:avLst/>
          </a:prstGeom>
          <a:noFill/>
          <a:ln/>
        </p:spPr>
        <p:txBody>
          <a:bodyPr wrap="square" lIns="0" tIns="0" rIns="0" bIns="0" rtlCol="0" anchor="ctr"/>
          <a:lstStyle/>
          <a:p>
            <a:pPr marL="0" indent="0">
              <a:buNone/>
            </a:pPr>
            <a:r>
              <a:rPr lang="en-US" sz="1450" dirty="0">
                <a:solidFill>
                  <a:srgbClr val="33415C"/>
                </a:solidFill>
                <a:latin typeface="Calibri" pitchFamily="34" charset="0"/>
                <a:ea typeface="Calibri" pitchFamily="34" charset="-122"/>
                <a:cs typeface="Calibri" pitchFamily="34" charset="-120"/>
              </a:rPr>
              <a:t>Created Delay_Days feature</a:t>
            </a:r>
            <a:endParaRPr lang="en-US" sz="1450" dirty="0"/>
          </a:p>
        </p:txBody>
      </p:sp>
      <p:sp>
        <p:nvSpPr>
          <p:cNvPr id="24" name="Shape 22"/>
          <p:cNvSpPr/>
          <p:nvPr/>
        </p:nvSpPr>
        <p:spPr>
          <a:xfrm>
            <a:off x="5897880" y="4352544"/>
            <a:ext cx="292608" cy="292608"/>
          </a:xfrm>
          <a:prstGeom prst="ellipse">
            <a:avLst/>
          </a:prstGeom>
          <a:solidFill>
            <a:srgbClr val="1E2761"/>
          </a:solidFill>
          <a:ln/>
        </p:spPr>
      </p:sp>
      <p:sp>
        <p:nvSpPr>
          <p:cNvPr id="25" name="Text 23"/>
          <p:cNvSpPr/>
          <p:nvPr/>
        </p:nvSpPr>
        <p:spPr>
          <a:xfrm>
            <a:off x="5897880" y="435254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6" name="Text 24"/>
          <p:cNvSpPr/>
          <p:nvPr/>
        </p:nvSpPr>
        <p:spPr>
          <a:xfrm>
            <a:off x="6355080" y="4288536"/>
            <a:ext cx="5303520" cy="420624"/>
          </a:xfrm>
          <a:prstGeom prst="rect">
            <a:avLst/>
          </a:prstGeom>
          <a:noFill/>
          <a:ln/>
        </p:spPr>
        <p:txBody>
          <a:bodyPr wrap="square" lIns="0" tIns="0" rIns="0" bIns="0" rtlCol="0" anchor="ctr"/>
          <a:lstStyle/>
          <a:p>
            <a:pPr marL="0" indent="0">
              <a:buNone/>
            </a:pPr>
            <a:r>
              <a:rPr lang="en-US" sz="1450" dirty="0">
                <a:solidFill>
                  <a:srgbClr val="33415C"/>
                </a:solidFill>
                <a:latin typeface="Calibri" pitchFamily="34" charset="0"/>
                <a:ea typeface="Calibri" pitchFamily="34" charset="-122"/>
                <a:cs typeface="Calibri" pitchFamily="34" charset="-120"/>
              </a:rPr>
              <a:t>Data Cleaning using Python (Pandas)</a:t>
            </a:r>
            <a:endParaRPr lang="en-US" sz="1450" dirty="0"/>
          </a:p>
        </p:txBody>
      </p:sp>
      <p:sp>
        <p:nvSpPr>
          <p:cNvPr id="27" name="Shape 25"/>
          <p:cNvSpPr/>
          <p:nvPr/>
        </p:nvSpPr>
        <p:spPr>
          <a:xfrm>
            <a:off x="5897880" y="4919472"/>
            <a:ext cx="292608" cy="292608"/>
          </a:xfrm>
          <a:prstGeom prst="ellipse">
            <a:avLst/>
          </a:prstGeom>
          <a:solidFill>
            <a:srgbClr val="1E2761"/>
          </a:solidFill>
          <a:ln/>
        </p:spPr>
      </p:sp>
      <p:sp>
        <p:nvSpPr>
          <p:cNvPr id="28" name="Text 26"/>
          <p:cNvSpPr/>
          <p:nvPr/>
        </p:nvSpPr>
        <p:spPr>
          <a:xfrm>
            <a:off x="5897880" y="491947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9" name="Text 27"/>
          <p:cNvSpPr/>
          <p:nvPr/>
        </p:nvSpPr>
        <p:spPr>
          <a:xfrm>
            <a:off x="6355080" y="4855464"/>
            <a:ext cx="5303520" cy="420624"/>
          </a:xfrm>
          <a:prstGeom prst="rect">
            <a:avLst/>
          </a:prstGeom>
          <a:noFill/>
          <a:ln/>
        </p:spPr>
        <p:txBody>
          <a:bodyPr wrap="square" lIns="0" tIns="0" rIns="0" bIns="0" rtlCol="0" anchor="ctr"/>
          <a:lstStyle/>
          <a:p>
            <a:pPr marL="0" indent="0">
              <a:buNone/>
            </a:pPr>
            <a:r>
              <a:rPr lang="en-US" sz="1450" dirty="0">
                <a:solidFill>
                  <a:srgbClr val="33415C"/>
                </a:solidFill>
                <a:latin typeface="Calibri" pitchFamily="34" charset="0"/>
                <a:ea typeface="Calibri" pitchFamily="34" charset="-122"/>
                <a:cs typeface="Calibri" pitchFamily="34" charset="-120"/>
              </a:rPr>
              <a:t>Imported cleaned dataset into MySQL</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Delivery Delays Dashboard</a:t>
            </a:r>
            <a:endParaRPr lang="en-US" sz="3200" dirty="0"/>
          </a:p>
        </p:txBody>
      </p:sp>
      <p:sp>
        <p:nvSpPr>
          <p:cNvPr id="3" name="Shape 1"/>
          <p:cNvSpPr/>
          <p:nvPr/>
        </p:nvSpPr>
        <p:spPr>
          <a:xfrm>
            <a:off x="438912" y="1307592"/>
            <a:ext cx="7123176" cy="5248656"/>
          </a:xfrm>
          <a:prstGeom prst="roundRect">
            <a:avLst>
              <a:gd name="adj" fmla="val 1742"/>
            </a:avLst>
          </a:prstGeom>
          <a:solidFill>
            <a:srgbClr val="FFFFFF"/>
          </a:solidFill>
          <a:ln w="12700">
            <a:solidFill>
              <a:srgbClr val="E2E8F5"/>
            </a:solidFill>
            <a:prstDash val="solid"/>
          </a:ln>
          <a:effectLst>
            <a:outerShdw blurRad="101600" dist="38100" dir="2700000" algn="bl" rotWithShape="0">
              <a:srgbClr val="1E2761">
                <a:alpha val="12000"/>
              </a:srgbClr>
            </a:outerShdw>
          </a:effectLst>
        </p:spPr>
      </p:sp>
      <p:pic>
        <p:nvPicPr>
          <p:cNvPr id="4" name="Image 0"/>
          <p:cNvPicPr>
            <a:picLocks noChangeAspect="1"/>
          </p:cNvPicPr>
          <p:nvPr/>
        </p:nvPicPr>
        <p:blipFill>
          <a:blip r:embed="rId3"/>
          <a:srcRect/>
          <a:stretch/>
        </p:blipFill>
        <p:spPr>
          <a:xfrm>
            <a:off x="548640" y="1935664"/>
            <a:ext cx="6903720" cy="3992512"/>
          </a:xfrm>
          <a:prstGeom prst="rect">
            <a:avLst/>
          </a:prstGeom>
        </p:spPr>
      </p:pic>
      <p:sp>
        <p:nvSpPr>
          <p:cNvPr id="5" name="Text 2"/>
          <p:cNvSpPr/>
          <p:nvPr/>
        </p:nvSpPr>
        <p:spPr>
          <a:xfrm>
            <a:off x="7726680" y="1417320"/>
            <a:ext cx="3931920" cy="36576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Key KPIs</a:t>
            </a:r>
            <a:endParaRPr lang="en-US" sz="1700" dirty="0"/>
          </a:p>
        </p:txBody>
      </p:sp>
      <p:sp>
        <p:nvSpPr>
          <p:cNvPr id="6" name="Shape 3"/>
          <p:cNvSpPr/>
          <p:nvPr/>
        </p:nvSpPr>
        <p:spPr>
          <a:xfrm>
            <a:off x="7744968" y="1929384"/>
            <a:ext cx="91440" cy="91440"/>
          </a:xfrm>
          <a:prstGeom prst="ellipse">
            <a:avLst/>
          </a:prstGeom>
          <a:solidFill>
            <a:srgbClr val="1E2761"/>
          </a:solidFill>
          <a:ln/>
        </p:spPr>
      </p:sp>
      <p:sp>
        <p:nvSpPr>
          <p:cNvPr id="7" name="Text 4"/>
          <p:cNvSpPr/>
          <p:nvPr/>
        </p:nvSpPr>
        <p:spPr>
          <a:xfrm>
            <a:off x="8019288" y="177393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Total Orders</a:t>
            </a:r>
            <a:endParaRPr lang="en-US" sz="1300" dirty="0"/>
          </a:p>
        </p:txBody>
      </p:sp>
      <p:sp>
        <p:nvSpPr>
          <p:cNvPr id="8" name="Shape 5"/>
          <p:cNvSpPr/>
          <p:nvPr/>
        </p:nvSpPr>
        <p:spPr>
          <a:xfrm>
            <a:off x="7744968" y="2295144"/>
            <a:ext cx="91440" cy="91440"/>
          </a:xfrm>
          <a:prstGeom prst="ellipse">
            <a:avLst/>
          </a:prstGeom>
          <a:solidFill>
            <a:srgbClr val="1E2761"/>
          </a:solidFill>
          <a:ln/>
        </p:spPr>
      </p:sp>
      <p:sp>
        <p:nvSpPr>
          <p:cNvPr id="9" name="Text 6"/>
          <p:cNvSpPr/>
          <p:nvPr/>
        </p:nvSpPr>
        <p:spPr>
          <a:xfrm>
            <a:off x="8019288" y="213969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On-Time Orders</a:t>
            </a:r>
            <a:endParaRPr lang="en-US" sz="1300" dirty="0"/>
          </a:p>
        </p:txBody>
      </p:sp>
      <p:sp>
        <p:nvSpPr>
          <p:cNvPr id="10" name="Shape 7"/>
          <p:cNvSpPr/>
          <p:nvPr/>
        </p:nvSpPr>
        <p:spPr>
          <a:xfrm>
            <a:off x="7744968" y="2660904"/>
            <a:ext cx="91440" cy="91440"/>
          </a:xfrm>
          <a:prstGeom prst="ellipse">
            <a:avLst/>
          </a:prstGeom>
          <a:solidFill>
            <a:srgbClr val="1E2761"/>
          </a:solidFill>
          <a:ln/>
        </p:spPr>
      </p:sp>
      <p:sp>
        <p:nvSpPr>
          <p:cNvPr id="11" name="Text 8"/>
          <p:cNvSpPr/>
          <p:nvPr/>
        </p:nvSpPr>
        <p:spPr>
          <a:xfrm>
            <a:off x="8019288" y="250545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Late Orders</a:t>
            </a:r>
            <a:endParaRPr lang="en-US" sz="1300" dirty="0"/>
          </a:p>
        </p:txBody>
      </p:sp>
      <p:sp>
        <p:nvSpPr>
          <p:cNvPr id="12" name="Shape 9"/>
          <p:cNvSpPr/>
          <p:nvPr/>
        </p:nvSpPr>
        <p:spPr>
          <a:xfrm>
            <a:off x="7744968" y="3026664"/>
            <a:ext cx="91440" cy="91440"/>
          </a:xfrm>
          <a:prstGeom prst="ellipse">
            <a:avLst/>
          </a:prstGeom>
          <a:solidFill>
            <a:srgbClr val="1E2761"/>
          </a:solidFill>
          <a:ln/>
        </p:spPr>
      </p:sp>
      <p:sp>
        <p:nvSpPr>
          <p:cNvPr id="13" name="Text 10"/>
          <p:cNvSpPr/>
          <p:nvPr/>
        </p:nvSpPr>
        <p:spPr>
          <a:xfrm>
            <a:off x="8019288" y="287121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Late Delivery %</a:t>
            </a:r>
            <a:endParaRPr lang="en-US" sz="1300" dirty="0"/>
          </a:p>
        </p:txBody>
      </p:sp>
      <p:sp>
        <p:nvSpPr>
          <p:cNvPr id="14" name="Shape 11"/>
          <p:cNvSpPr/>
          <p:nvPr/>
        </p:nvSpPr>
        <p:spPr>
          <a:xfrm>
            <a:off x="7744968" y="3392424"/>
            <a:ext cx="91440" cy="91440"/>
          </a:xfrm>
          <a:prstGeom prst="ellipse">
            <a:avLst/>
          </a:prstGeom>
          <a:solidFill>
            <a:srgbClr val="1E2761"/>
          </a:solidFill>
          <a:ln/>
        </p:spPr>
      </p:sp>
      <p:sp>
        <p:nvSpPr>
          <p:cNvPr id="15" name="Text 12"/>
          <p:cNvSpPr/>
          <p:nvPr/>
        </p:nvSpPr>
        <p:spPr>
          <a:xfrm>
            <a:off x="8019288" y="323697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Average Delay Days</a:t>
            </a:r>
            <a:endParaRPr lang="en-US" sz="1300" dirty="0"/>
          </a:p>
        </p:txBody>
      </p:sp>
      <p:sp>
        <p:nvSpPr>
          <p:cNvPr id="16" name="Shape 13"/>
          <p:cNvSpPr/>
          <p:nvPr/>
        </p:nvSpPr>
        <p:spPr>
          <a:xfrm>
            <a:off x="7726680" y="3886200"/>
            <a:ext cx="3931920" cy="2514600"/>
          </a:xfrm>
          <a:prstGeom prst="roundRect">
            <a:avLst>
              <a:gd name="adj" fmla="val 3636"/>
            </a:avLst>
          </a:prstGeom>
          <a:solidFill>
            <a:srgbClr val="F5F7FC"/>
          </a:solidFill>
          <a:ln/>
        </p:spPr>
      </p:sp>
      <p:sp>
        <p:nvSpPr>
          <p:cNvPr id="17" name="Text 14"/>
          <p:cNvSpPr/>
          <p:nvPr/>
        </p:nvSpPr>
        <p:spPr>
          <a:xfrm>
            <a:off x="8001000" y="4087368"/>
            <a:ext cx="3383280" cy="32004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Key Insights</a:t>
            </a:r>
            <a:endParaRPr lang="en-US" sz="1450" dirty="0"/>
          </a:p>
        </p:txBody>
      </p:sp>
      <p:sp>
        <p:nvSpPr>
          <p:cNvPr id="18" name="Text 15"/>
          <p:cNvSpPr/>
          <p:nvPr/>
        </p:nvSpPr>
        <p:spPr>
          <a:xfrm>
            <a:off x="8001000" y="4453128"/>
            <a:ext cx="3383280" cy="178308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200" dirty="0">
                <a:solidFill>
                  <a:srgbClr val="33415C"/>
                </a:solidFill>
                <a:latin typeface="Calibri" pitchFamily="34" charset="0"/>
                <a:ea typeface="Calibri" pitchFamily="34" charset="-122"/>
                <a:cs typeface="Calibri" pitchFamily="34" charset="-120"/>
              </a:rPr>
              <a:t>More than half of the deliveries were delayed.</a:t>
            </a:r>
            <a:endParaRPr lang="en-US" sz="1200" dirty="0"/>
          </a:p>
          <a:p>
            <a:pPr marL="342900" indent="-342900">
              <a:lnSpc>
                <a:spcPct val="115000"/>
              </a:lnSpc>
              <a:spcAft>
                <a:spcPts val="600"/>
              </a:spcAft>
              <a:buSzPct val="100000"/>
              <a:buChar char="•"/>
            </a:pPr>
            <a:r>
              <a:rPr lang="en-US" sz="1200" dirty="0">
                <a:solidFill>
                  <a:srgbClr val="33415C"/>
                </a:solidFill>
                <a:latin typeface="Calibri" pitchFamily="34" charset="0"/>
                <a:ea typeface="Calibri" pitchFamily="34" charset="-122"/>
                <a:cs typeface="Calibri" pitchFamily="34" charset="-120"/>
              </a:rPr>
              <a:t>Delivery performance varied across different regions.</a:t>
            </a:r>
            <a:endParaRPr lang="en-US" sz="1200" dirty="0"/>
          </a:p>
          <a:p>
            <a:pPr marL="342900" indent="-342900">
              <a:lnSpc>
                <a:spcPct val="115000"/>
              </a:lnSpc>
              <a:spcAft>
                <a:spcPts val="600"/>
              </a:spcAft>
              <a:buSzPct val="100000"/>
              <a:buChar char="•"/>
            </a:pPr>
            <a:r>
              <a:rPr lang="en-US" sz="1200" dirty="0">
                <a:solidFill>
                  <a:srgbClr val="33415C"/>
                </a:solidFill>
                <a:latin typeface="Calibri" pitchFamily="34" charset="0"/>
                <a:ea typeface="Calibri" pitchFamily="34" charset="-122"/>
                <a:cs typeface="Calibri" pitchFamily="34" charset="-120"/>
              </a:rPr>
              <a:t>Average delay differed between shipping modes.</a:t>
            </a:r>
            <a:endParaRPr lang="en-US" sz="1200" dirty="0"/>
          </a:p>
          <a:p>
            <a:pPr marL="342900" indent="-342900">
              <a:lnSpc>
                <a:spcPct val="115000"/>
              </a:lnSpc>
              <a:spcAft>
                <a:spcPts val="600"/>
              </a:spcAft>
              <a:buSzPct val="100000"/>
              <a:buChar char="•"/>
            </a:pPr>
            <a:r>
              <a:rPr lang="en-US" sz="1200" dirty="0">
                <a:solidFill>
                  <a:srgbClr val="33415C"/>
                </a:solidFill>
                <a:latin typeface="Calibri" pitchFamily="34" charset="0"/>
                <a:ea typeface="Calibri" pitchFamily="34" charset="-122"/>
                <a:cs typeface="Calibri" pitchFamily="34" charset="-120"/>
              </a:rPr>
              <a:t>The dashboard helps identify high-risk delivery areas.</a:t>
            </a:r>
            <a:endParaRPr lang="en-US" sz="1200" dirty="0"/>
          </a:p>
        </p:txBody>
      </p:sp>
      <p:sp>
        <p:nvSpPr>
          <p:cNvPr id="19" name="Text 16"/>
          <p:cNvSpPr/>
          <p:nvPr/>
        </p:nvSpPr>
        <p:spPr>
          <a:xfrm>
            <a:off x="11551615" y="6446520"/>
            <a:ext cx="365760" cy="274320"/>
          </a:xfrm>
          <a:prstGeom prst="rect">
            <a:avLst/>
          </a:prstGeom>
          <a:noFill/>
          <a:ln/>
        </p:spPr>
        <p:txBody>
          <a:bodyPr wrap="square" lIns="0" tIns="0" rIns="0" bIns="0" rtlCol="0" anchor="ctr"/>
          <a:lstStyle/>
          <a:p>
            <a:pPr marL="0" indent="0" algn="r">
              <a:buNone/>
            </a:pP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Supplier Performance &amp; Shipping Dashboard</a:t>
            </a:r>
            <a:endParaRPr lang="en-US" sz="3200" dirty="0"/>
          </a:p>
        </p:txBody>
      </p:sp>
      <p:sp>
        <p:nvSpPr>
          <p:cNvPr id="3" name="Shape 1"/>
          <p:cNvSpPr/>
          <p:nvPr/>
        </p:nvSpPr>
        <p:spPr>
          <a:xfrm>
            <a:off x="438912" y="1307592"/>
            <a:ext cx="7123176" cy="5248656"/>
          </a:xfrm>
          <a:prstGeom prst="roundRect">
            <a:avLst>
              <a:gd name="adj" fmla="val 1742"/>
            </a:avLst>
          </a:prstGeom>
          <a:solidFill>
            <a:srgbClr val="FFFFFF"/>
          </a:solidFill>
          <a:ln w="12700">
            <a:solidFill>
              <a:srgbClr val="E2E8F5"/>
            </a:solidFill>
            <a:prstDash val="solid"/>
          </a:ln>
          <a:effectLst>
            <a:outerShdw blurRad="101600" dist="38100" dir="2700000" algn="bl" rotWithShape="0">
              <a:srgbClr val="1E2761">
                <a:alpha val="12000"/>
              </a:srgbClr>
            </a:outerShdw>
          </a:effectLst>
        </p:spPr>
      </p:sp>
      <p:pic>
        <p:nvPicPr>
          <p:cNvPr id="4" name="Image 0"/>
          <p:cNvPicPr>
            <a:picLocks noChangeAspect="1"/>
          </p:cNvPicPr>
          <p:nvPr/>
        </p:nvPicPr>
        <p:blipFill>
          <a:blip r:embed="rId3"/>
          <a:srcRect/>
          <a:stretch/>
        </p:blipFill>
        <p:spPr>
          <a:xfrm>
            <a:off x="548640" y="1935664"/>
            <a:ext cx="6903720" cy="3992512"/>
          </a:xfrm>
          <a:prstGeom prst="rect">
            <a:avLst/>
          </a:prstGeom>
        </p:spPr>
      </p:pic>
      <p:sp>
        <p:nvSpPr>
          <p:cNvPr id="5" name="Text 2"/>
          <p:cNvSpPr/>
          <p:nvPr/>
        </p:nvSpPr>
        <p:spPr>
          <a:xfrm>
            <a:off x="7726680" y="1417320"/>
            <a:ext cx="3931920" cy="36576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Key KPIs</a:t>
            </a:r>
            <a:endParaRPr lang="en-US" sz="1700" dirty="0"/>
          </a:p>
        </p:txBody>
      </p:sp>
      <p:sp>
        <p:nvSpPr>
          <p:cNvPr id="6" name="Shape 3"/>
          <p:cNvSpPr/>
          <p:nvPr/>
        </p:nvSpPr>
        <p:spPr>
          <a:xfrm>
            <a:off x="7744968" y="1929384"/>
            <a:ext cx="91440" cy="91440"/>
          </a:xfrm>
          <a:prstGeom prst="ellipse">
            <a:avLst/>
          </a:prstGeom>
          <a:solidFill>
            <a:srgbClr val="1E2761"/>
          </a:solidFill>
          <a:ln/>
        </p:spPr>
      </p:sp>
      <p:sp>
        <p:nvSpPr>
          <p:cNvPr id="7" name="Text 4"/>
          <p:cNvSpPr/>
          <p:nvPr/>
        </p:nvSpPr>
        <p:spPr>
          <a:xfrm>
            <a:off x="8019288" y="177393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Total Sales</a:t>
            </a:r>
            <a:endParaRPr lang="en-US" sz="1300" dirty="0"/>
          </a:p>
        </p:txBody>
      </p:sp>
      <p:sp>
        <p:nvSpPr>
          <p:cNvPr id="8" name="Shape 5"/>
          <p:cNvSpPr/>
          <p:nvPr/>
        </p:nvSpPr>
        <p:spPr>
          <a:xfrm>
            <a:off x="7744968" y="2295144"/>
            <a:ext cx="91440" cy="91440"/>
          </a:xfrm>
          <a:prstGeom prst="ellipse">
            <a:avLst/>
          </a:prstGeom>
          <a:solidFill>
            <a:srgbClr val="1E2761"/>
          </a:solidFill>
          <a:ln/>
        </p:spPr>
      </p:sp>
      <p:sp>
        <p:nvSpPr>
          <p:cNvPr id="9" name="Text 6"/>
          <p:cNvSpPr/>
          <p:nvPr/>
        </p:nvSpPr>
        <p:spPr>
          <a:xfrm>
            <a:off x="8019288" y="213969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Total Profit</a:t>
            </a:r>
            <a:endParaRPr lang="en-US" sz="1300" dirty="0"/>
          </a:p>
        </p:txBody>
      </p:sp>
      <p:sp>
        <p:nvSpPr>
          <p:cNvPr id="10" name="Shape 7"/>
          <p:cNvSpPr/>
          <p:nvPr/>
        </p:nvSpPr>
        <p:spPr>
          <a:xfrm>
            <a:off x="7744968" y="2660904"/>
            <a:ext cx="91440" cy="91440"/>
          </a:xfrm>
          <a:prstGeom prst="ellipse">
            <a:avLst/>
          </a:prstGeom>
          <a:solidFill>
            <a:srgbClr val="1E2761"/>
          </a:solidFill>
          <a:ln/>
        </p:spPr>
      </p:sp>
      <p:sp>
        <p:nvSpPr>
          <p:cNvPr id="11" name="Text 8"/>
          <p:cNvSpPr/>
          <p:nvPr/>
        </p:nvSpPr>
        <p:spPr>
          <a:xfrm>
            <a:off x="8019288" y="250545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Average Profit per Order</a:t>
            </a:r>
            <a:endParaRPr lang="en-US" sz="1300" dirty="0"/>
          </a:p>
        </p:txBody>
      </p:sp>
      <p:sp>
        <p:nvSpPr>
          <p:cNvPr id="12" name="Shape 9"/>
          <p:cNvSpPr/>
          <p:nvPr/>
        </p:nvSpPr>
        <p:spPr>
          <a:xfrm>
            <a:off x="7744968" y="3026664"/>
            <a:ext cx="91440" cy="91440"/>
          </a:xfrm>
          <a:prstGeom prst="ellipse">
            <a:avLst/>
          </a:prstGeom>
          <a:solidFill>
            <a:srgbClr val="1E2761"/>
          </a:solidFill>
          <a:ln/>
        </p:spPr>
      </p:sp>
      <p:sp>
        <p:nvSpPr>
          <p:cNvPr id="13" name="Text 10"/>
          <p:cNvSpPr/>
          <p:nvPr/>
        </p:nvSpPr>
        <p:spPr>
          <a:xfrm>
            <a:off x="8019288" y="287121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Average Shipping Days</a:t>
            </a:r>
            <a:endParaRPr lang="en-US" sz="1300" dirty="0"/>
          </a:p>
        </p:txBody>
      </p:sp>
      <p:sp>
        <p:nvSpPr>
          <p:cNvPr id="14" name="Shape 11"/>
          <p:cNvSpPr/>
          <p:nvPr/>
        </p:nvSpPr>
        <p:spPr>
          <a:xfrm>
            <a:off x="7744968" y="3392424"/>
            <a:ext cx="91440" cy="91440"/>
          </a:xfrm>
          <a:prstGeom prst="ellipse">
            <a:avLst/>
          </a:prstGeom>
          <a:solidFill>
            <a:srgbClr val="1E2761"/>
          </a:solidFill>
          <a:ln/>
        </p:spPr>
      </p:sp>
      <p:sp>
        <p:nvSpPr>
          <p:cNvPr id="15" name="Text 12"/>
          <p:cNvSpPr/>
          <p:nvPr/>
        </p:nvSpPr>
        <p:spPr>
          <a:xfrm>
            <a:off x="8019288" y="323697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Most Used Shipping Mode</a:t>
            </a:r>
            <a:endParaRPr lang="en-US" sz="1300" dirty="0"/>
          </a:p>
        </p:txBody>
      </p:sp>
      <p:sp>
        <p:nvSpPr>
          <p:cNvPr id="16" name="Shape 13"/>
          <p:cNvSpPr/>
          <p:nvPr/>
        </p:nvSpPr>
        <p:spPr>
          <a:xfrm>
            <a:off x="7726680" y="3886200"/>
            <a:ext cx="3931920" cy="2514600"/>
          </a:xfrm>
          <a:prstGeom prst="roundRect">
            <a:avLst>
              <a:gd name="adj" fmla="val 3636"/>
            </a:avLst>
          </a:prstGeom>
          <a:solidFill>
            <a:srgbClr val="F5F7FC"/>
          </a:solidFill>
          <a:ln/>
        </p:spPr>
      </p:sp>
      <p:sp>
        <p:nvSpPr>
          <p:cNvPr id="17" name="Text 14"/>
          <p:cNvSpPr/>
          <p:nvPr/>
        </p:nvSpPr>
        <p:spPr>
          <a:xfrm>
            <a:off x="8001000" y="4087368"/>
            <a:ext cx="3383280" cy="32004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Key Insights</a:t>
            </a:r>
            <a:endParaRPr lang="en-US" sz="1450" dirty="0"/>
          </a:p>
        </p:txBody>
      </p:sp>
      <p:sp>
        <p:nvSpPr>
          <p:cNvPr id="18" name="Text 15"/>
          <p:cNvSpPr/>
          <p:nvPr/>
        </p:nvSpPr>
        <p:spPr>
          <a:xfrm>
            <a:off x="8001000" y="4453128"/>
            <a:ext cx="3383280" cy="178308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200" dirty="0">
                <a:solidFill>
                  <a:srgbClr val="33415C"/>
                </a:solidFill>
                <a:latin typeface="Calibri" pitchFamily="34" charset="0"/>
                <a:ea typeface="Calibri" pitchFamily="34" charset="-122"/>
                <a:cs typeface="Calibri" pitchFamily="34" charset="-120"/>
              </a:rPr>
              <a:t>Standard Class was the most frequently used shipping mode.</a:t>
            </a:r>
            <a:endParaRPr lang="en-US" sz="1200" dirty="0"/>
          </a:p>
          <a:p>
            <a:pPr marL="342900" indent="-342900">
              <a:lnSpc>
                <a:spcPct val="115000"/>
              </a:lnSpc>
              <a:spcAft>
                <a:spcPts val="600"/>
              </a:spcAft>
              <a:buSzPct val="100000"/>
              <a:buChar char="•"/>
            </a:pPr>
            <a:r>
              <a:rPr lang="en-US" sz="1200" dirty="0">
                <a:solidFill>
                  <a:srgbClr val="33415C"/>
                </a:solidFill>
                <a:latin typeface="Calibri" pitchFamily="34" charset="0"/>
                <a:ea typeface="Calibri" pitchFamily="34" charset="-122"/>
                <a:cs typeface="Calibri" pitchFamily="34" charset="-120"/>
              </a:rPr>
              <a:t>Fishing category generated the highest sales.</a:t>
            </a:r>
            <a:endParaRPr lang="en-US" sz="1200" dirty="0"/>
          </a:p>
          <a:p>
            <a:pPr marL="342900" indent="-342900">
              <a:lnSpc>
                <a:spcPct val="115000"/>
              </a:lnSpc>
              <a:spcAft>
                <a:spcPts val="600"/>
              </a:spcAft>
              <a:buSzPct val="100000"/>
              <a:buChar char="•"/>
            </a:pPr>
            <a:r>
              <a:rPr lang="en-US" sz="1200" dirty="0">
                <a:solidFill>
                  <a:srgbClr val="33415C"/>
                </a:solidFill>
                <a:latin typeface="Calibri" pitchFamily="34" charset="0"/>
                <a:ea typeface="Calibri" pitchFamily="34" charset="-122"/>
                <a:cs typeface="Calibri" pitchFamily="34" charset="-120"/>
              </a:rPr>
              <a:t>Sales and profit trends were similar across categories.</a:t>
            </a:r>
            <a:endParaRPr lang="en-US" sz="1200" dirty="0"/>
          </a:p>
          <a:p>
            <a:pPr marL="342900" indent="-342900">
              <a:lnSpc>
                <a:spcPct val="115000"/>
              </a:lnSpc>
              <a:spcAft>
                <a:spcPts val="600"/>
              </a:spcAft>
              <a:buSzPct val="100000"/>
              <a:buChar char="•"/>
            </a:pPr>
            <a:r>
              <a:rPr lang="en-US" sz="1200" dirty="0">
                <a:solidFill>
                  <a:srgbClr val="33415C"/>
                </a:solidFill>
                <a:latin typeface="Calibri" pitchFamily="34" charset="0"/>
                <a:ea typeface="Calibri" pitchFamily="34" charset="-122"/>
                <a:cs typeface="Calibri" pitchFamily="34" charset="-120"/>
              </a:rPr>
              <a:t>Shipping distribution was dominated by Standard Class.</a:t>
            </a:r>
            <a:endParaRPr lang="en-US" sz="1200" dirty="0"/>
          </a:p>
        </p:txBody>
      </p:sp>
      <p:sp>
        <p:nvSpPr>
          <p:cNvPr id="19" name="Text 16"/>
          <p:cNvSpPr/>
          <p:nvPr/>
        </p:nvSpPr>
        <p:spPr>
          <a:xfrm>
            <a:off x="11551615" y="6446520"/>
            <a:ext cx="365760" cy="274320"/>
          </a:xfrm>
          <a:prstGeom prst="rect">
            <a:avLst/>
          </a:prstGeom>
          <a:noFill/>
          <a:ln/>
        </p:spPr>
        <p:txBody>
          <a:bodyPr wrap="square" lIns="0" tIns="0" rIns="0" bIns="0" rtlCol="0" anchor="ctr"/>
          <a:lstStyle/>
          <a:p>
            <a:pPr marL="0" indent="0" algn="r">
              <a:buNone/>
            </a:pP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Order Status Dashboard</a:t>
            </a:r>
            <a:endParaRPr lang="en-US" sz="3200" dirty="0"/>
          </a:p>
        </p:txBody>
      </p:sp>
      <p:sp>
        <p:nvSpPr>
          <p:cNvPr id="3" name="Shape 1"/>
          <p:cNvSpPr/>
          <p:nvPr/>
        </p:nvSpPr>
        <p:spPr>
          <a:xfrm>
            <a:off x="438912" y="1307592"/>
            <a:ext cx="7123176" cy="5248656"/>
          </a:xfrm>
          <a:prstGeom prst="roundRect">
            <a:avLst>
              <a:gd name="adj" fmla="val 1742"/>
            </a:avLst>
          </a:prstGeom>
          <a:solidFill>
            <a:srgbClr val="FFFFFF"/>
          </a:solidFill>
          <a:ln w="12700">
            <a:solidFill>
              <a:srgbClr val="E2E8F5"/>
            </a:solidFill>
            <a:prstDash val="solid"/>
          </a:ln>
          <a:effectLst>
            <a:outerShdw blurRad="101600" dist="38100" dir="2700000" algn="bl" rotWithShape="0">
              <a:srgbClr val="1E2761">
                <a:alpha val="12000"/>
              </a:srgbClr>
            </a:outerShdw>
          </a:effectLst>
        </p:spPr>
      </p:sp>
      <p:pic>
        <p:nvPicPr>
          <p:cNvPr id="4" name="Image 0"/>
          <p:cNvPicPr>
            <a:picLocks noChangeAspect="1"/>
          </p:cNvPicPr>
          <p:nvPr/>
        </p:nvPicPr>
        <p:blipFill>
          <a:blip r:embed="rId3"/>
          <a:srcRect/>
          <a:stretch/>
        </p:blipFill>
        <p:spPr>
          <a:xfrm>
            <a:off x="548640" y="1935664"/>
            <a:ext cx="6903720" cy="3992512"/>
          </a:xfrm>
          <a:prstGeom prst="rect">
            <a:avLst/>
          </a:prstGeom>
        </p:spPr>
      </p:pic>
      <p:sp>
        <p:nvSpPr>
          <p:cNvPr id="5" name="Text 2"/>
          <p:cNvSpPr/>
          <p:nvPr/>
        </p:nvSpPr>
        <p:spPr>
          <a:xfrm>
            <a:off x="7726680" y="1417320"/>
            <a:ext cx="3931920" cy="36576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Key KPIs</a:t>
            </a:r>
            <a:endParaRPr lang="en-US" sz="1700" dirty="0"/>
          </a:p>
        </p:txBody>
      </p:sp>
      <p:sp>
        <p:nvSpPr>
          <p:cNvPr id="6" name="Shape 3"/>
          <p:cNvSpPr/>
          <p:nvPr/>
        </p:nvSpPr>
        <p:spPr>
          <a:xfrm>
            <a:off x="7744968" y="1929384"/>
            <a:ext cx="91440" cy="91440"/>
          </a:xfrm>
          <a:prstGeom prst="ellipse">
            <a:avLst/>
          </a:prstGeom>
          <a:solidFill>
            <a:srgbClr val="1E2761"/>
          </a:solidFill>
          <a:ln/>
        </p:spPr>
      </p:sp>
      <p:sp>
        <p:nvSpPr>
          <p:cNvPr id="7" name="Text 4"/>
          <p:cNvSpPr/>
          <p:nvPr/>
        </p:nvSpPr>
        <p:spPr>
          <a:xfrm>
            <a:off x="8019288" y="177393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Completed Orders</a:t>
            </a:r>
            <a:endParaRPr lang="en-US" sz="1300" dirty="0"/>
          </a:p>
        </p:txBody>
      </p:sp>
      <p:sp>
        <p:nvSpPr>
          <p:cNvPr id="8" name="Shape 5"/>
          <p:cNvSpPr/>
          <p:nvPr/>
        </p:nvSpPr>
        <p:spPr>
          <a:xfrm>
            <a:off x="7744968" y="2295144"/>
            <a:ext cx="91440" cy="91440"/>
          </a:xfrm>
          <a:prstGeom prst="ellipse">
            <a:avLst/>
          </a:prstGeom>
          <a:solidFill>
            <a:srgbClr val="1E2761"/>
          </a:solidFill>
          <a:ln/>
        </p:spPr>
      </p:sp>
      <p:sp>
        <p:nvSpPr>
          <p:cNvPr id="9" name="Text 6"/>
          <p:cNvSpPr/>
          <p:nvPr/>
        </p:nvSpPr>
        <p:spPr>
          <a:xfrm>
            <a:off x="8019288" y="213969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Pending &amp; Processing Orders</a:t>
            </a:r>
            <a:endParaRPr lang="en-US" sz="1300" dirty="0"/>
          </a:p>
        </p:txBody>
      </p:sp>
      <p:sp>
        <p:nvSpPr>
          <p:cNvPr id="10" name="Shape 7"/>
          <p:cNvSpPr/>
          <p:nvPr/>
        </p:nvSpPr>
        <p:spPr>
          <a:xfrm>
            <a:off x="7744968" y="2660904"/>
            <a:ext cx="91440" cy="91440"/>
          </a:xfrm>
          <a:prstGeom prst="ellipse">
            <a:avLst/>
          </a:prstGeom>
          <a:solidFill>
            <a:srgbClr val="1E2761"/>
          </a:solidFill>
          <a:ln/>
        </p:spPr>
      </p:sp>
      <p:sp>
        <p:nvSpPr>
          <p:cNvPr id="11" name="Text 8"/>
          <p:cNvSpPr/>
          <p:nvPr/>
        </p:nvSpPr>
        <p:spPr>
          <a:xfrm>
            <a:off x="8019288" y="250545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Cancelled Orders</a:t>
            </a:r>
            <a:endParaRPr lang="en-US" sz="1300" dirty="0"/>
          </a:p>
        </p:txBody>
      </p:sp>
      <p:sp>
        <p:nvSpPr>
          <p:cNvPr id="12" name="Shape 9"/>
          <p:cNvSpPr/>
          <p:nvPr/>
        </p:nvSpPr>
        <p:spPr>
          <a:xfrm>
            <a:off x="7744968" y="3026664"/>
            <a:ext cx="91440" cy="91440"/>
          </a:xfrm>
          <a:prstGeom prst="ellipse">
            <a:avLst/>
          </a:prstGeom>
          <a:solidFill>
            <a:srgbClr val="1E2761"/>
          </a:solidFill>
          <a:ln/>
        </p:spPr>
      </p:sp>
      <p:sp>
        <p:nvSpPr>
          <p:cNvPr id="13" name="Text 10"/>
          <p:cNvSpPr/>
          <p:nvPr/>
        </p:nvSpPr>
        <p:spPr>
          <a:xfrm>
            <a:off x="8019288" y="287121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Fraud Review Orders</a:t>
            </a:r>
            <a:endParaRPr lang="en-US" sz="1300" dirty="0"/>
          </a:p>
        </p:txBody>
      </p:sp>
      <p:sp>
        <p:nvSpPr>
          <p:cNvPr id="14" name="Shape 11"/>
          <p:cNvSpPr/>
          <p:nvPr/>
        </p:nvSpPr>
        <p:spPr>
          <a:xfrm>
            <a:off x="7744968" y="3392424"/>
            <a:ext cx="91440" cy="91440"/>
          </a:xfrm>
          <a:prstGeom prst="ellipse">
            <a:avLst/>
          </a:prstGeom>
          <a:solidFill>
            <a:srgbClr val="1E2761"/>
          </a:solidFill>
          <a:ln/>
        </p:spPr>
      </p:sp>
      <p:sp>
        <p:nvSpPr>
          <p:cNvPr id="15" name="Text 12"/>
          <p:cNvSpPr/>
          <p:nvPr/>
        </p:nvSpPr>
        <p:spPr>
          <a:xfrm>
            <a:off x="8019288" y="323697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Completion Rate %</a:t>
            </a:r>
            <a:endParaRPr lang="en-US" sz="1300" dirty="0"/>
          </a:p>
        </p:txBody>
      </p:sp>
      <p:sp>
        <p:nvSpPr>
          <p:cNvPr id="16" name="Shape 13"/>
          <p:cNvSpPr/>
          <p:nvPr/>
        </p:nvSpPr>
        <p:spPr>
          <a:xfrm>
            <a:off x="7726680" y="3886200"/>
            <a:ext cx="3931920" cy="2514600"/>
          </a:xfrm>
          <a:prstGeom prst="roundRect">
            <a:avLst>
              <a:gd name="adj" fmla="val 3636"/>
            </a:avLst>
          </a:prstGeom>
          <a:solidFill>
            <a:srgbClr val="F5F7FC"/>
          </a:solidFill>
          <a:ln/>
        </p:spPr>
      </p:sp>
      <p:sp>
        <p:nvSpPr>
          <p:cNvPr id="17" name="Text 14"/>
          <p:cNvSpPr/>
          <p:nvPr/>
        </p:nvSpPr>
        <p:spPr>
          <a:xfrm>
            <a:off x="8001000" y="4087368"/>
            <a:ext cx="3383280" cy="32004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Key Insights</a:t>
            </a:r>
            <a:endParaRPr lang="en-US" sz="1450" dirty="0"/>
          </a:p>
        </p:txBody>
      </p:sp>
      <p:sp>
        <p:nvSpPr>
          <p:cNvPr id="18" name="Text 15"/>
          <p:cNvSpPr/>
          <p:nvPr/>
        </p:nvSpPr>
        <p:spPr>
          <a:xfrm>
            <a:off x="8001000" y="4453128"/>
            <a:ext cx="3383280" cy="178308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200" dirty="0">
                <a:solidFill>
                  <a:srgbClr val="33415C"/>
                </a:solidFill>
                <a:latin typeface="Calibri" pitchFamily="34" charset="0"/>
                <a:ea typeface="Calibri" pitchFamily="34" charset="-122"/>
                <a:cs typeface="Calibri" pitchFamily="34" charset="-120"/>
              </a:rPr>
              <a:t>Completed orders formed the largest order group.</a:t>
            </a:r>
            <a:endParaRPr lang="en-US" sz="1200" dirty="0"/>
          </a:p>
          <a:p>
            <a:pPr marL="342900" indent="-342900">
              <a:lnSpc>
                <a:spcPct val="115000"/>
              </a:lnSpc>
              <a:spcAft>
                <a:spcPts val="600"/>
              </a:spcAft>
              <a:buSzPct val="100000"/>
              <a:buChar char="•"/>
            </a:pPr>
            <a:r>
              <a:rPr lang="en-US" sz="1200" dirty="0">
                <a:solidFill>
                  <a:srgbClr val="33415C"/>
                </a:solidFill>
                <a:latin typeface="Calibri" pitchFamily="34" charset="0"/>
                <a:ea typeface="Calibri" pitchFamily="34" charset="-122"/>
                <a:cs typeface="Calibri" pitchFamily="34" charset="-120"/>
              </a:rPr>
              <a:t>Pending and Processing orders require continuous monitoring.</a:t>
            </a:r>
            <a:endParaRPr lang="en-US" sz="1200" dirty="0"/>
          </a:p>
          <a:p>
            <a:pPr marL="342900" indent="-342900">
              <a:lnSpc>
                <a:spcPct val="115000"/>
              </a:lnSpc>
              <a:spcAft>
                <a:spcPts val="600"/>
              </a:spcAft>
              <a:buSzPct val="100000"/>
              <a:buChar char="•"/>
            </a:pPr>
            <a:r>
              <a:rPr lang="en-US" sz="1200" dirty="0">
                <a:solidFill>
                  <a:srgbClr val="33415C"/>
                </a:solidFill>
                <a:latin typeface="Calibri" pitchFamily="34" charset="0"/>
                <a:ea typeface="Calibri" pitchFamily="34" charset="-122"/>
                <a:cs typeface="Calibri" pitchFamily="34" charset="-120"/>
              </a:rPr>
              <a:t>Cancelled orders remained comparatively low.</a:t>
            </a:r>
            <a:endParaRPr lang="en-US" sz="1200" dirty="0"/>
          </a:p>
          <a:p>
            <a:pPr marL="342900" indent="-342900">
              <a:lnSpc>
                <a:spcPct val="115000"/>
              </a:lnSpc>
              <a:spcAft>
                <a:spcPts val="600"/>
              </a:spcAft>
              <a:buSzPct val="100000"/>
              <a:buChar char="•"/>
            </a:pPr>
            <a:r>
              <a:rPr lang="en-US" sz="1200" dirty="0">
                <a:solidFill>
                  <a:srgbClr val="33415C"/>
                </a:solidFill>
                <a:latin typeface="Calibri" pitchFamily="34" charset="0"/>
                <a:ea typeface="Calibri" pitchFamily="34" charset="-122"/>
                <a:cs typeface="Calibri" pitchFamily="34" charset="-120"/>
              </a:rPr>
              <a:t>Fraud review orders represented only a small portion of total orders.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Logistics Efficiency Dashboard</a:t>
            </a:r>
            <a:endParaRPr lang="en-US" sz="3200" dirty="0"/>
          </a:p>
        </p:txBody>
      </p:sp>
      <p:sp>
        <p:nvSpPr>
          <p:cNvPr id="3" name="Shape 1"/>
          <p:cNvSpPr/>
          <p:nvPr/>
        </p:nvSpPr>
        <p:spPr>
          <a:xfrm>
            <a:off x="438912" y="1307592"/>
            <a:ext cx="7123176" cy="5248656"/>
          </a:xfrm>
          <a:prstGeom prst="roundRect">
            <a:avLst>
              <a:gd name="adj" fmla="val 1742"/>
            </a:avLst>
          </a:prstGeom>
          <a:solidFill>
            <a:srgbClr val="FFFFFF"/>
          </a:solidFill>
          <a:ln w="12700">
            <a:solidFill>
              <a:srgbClr val="E2E8F5"/>
            </a:solidFill>
            <a:prstDash val="solid"/>
          </a:ln>
          <a:effectLst>
            <a:outerShdw blurRad="101600" dist="38100" dir="2700000" algn="bl" rotWithShape="0">
              <a:srgbClr val="1E2761">
                <a:alpha val="12000"/>
              </a:srgbClr>
            </a:outerShdw>
          </a:effectLst>
        </p:spPr>
      </p:sp>
      <p:pic>
        <p:nvPicPr>
          <p:cNvPr id="4" name="Image 0"/>
          <p:cNvPicPr>
            <a:picLocks noChangeAspect="1"/>
          </p:cNvPicPr>
          <p:nvPr/>
        </p:nvPicPr>
        <p:blipFill>
          <a:blip r:embed="rId3"/>
          <a:srcRect/>
          <a:stretch/>
        </p:blipFill>
        <p:spPr>
          <a:xfrm>
            <a:off x="548640" y="1935664"/>
            <a:ext cx="6903720" cy="3992512"/>
          </a:xfrm>
          <a:prstGeom prst="rect">
            <a:avLst/>
          </a:prstGeom>
        </p:spPr>
      </p:pic>
      <p:sp>
        <p:nvSpPr>
          <p:cNvPr id="5" name="Text 2"/>
          <p:cNvSpPr/>
          <p:nvPr/>
        </p:nvSpPr>
        <p:spPr>
          <a:xfrm>
            <a:off x="7726680" y="1417320"/>
            <a:ext cx="3931920" cy="36576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Key KPIs</a:t>
            </a:r>
            <a:endParaRPr lang="en-US" sz="1700" dirty="0"/>
          </a:p>
        </p:txBody>
      </p:sp>
      <p:sp>
        <p:nvSpPr>
          <p:cNvPr id="6" name="Shape 3"/>
          <p:cNvSpPr/>
          <p:nvPr/>
        </p:nvSpPr>
        <p:spPr>
          <a:xfrm>
            <a:off x="7744968" y="1929384"/>
            <a:ext cx="91440" cy="91440"/>
          </a:xfrm>
          <a:prstGeom prst="ellipse">
            <a:avLst/>
          </a:prstGeom>
          <a:solidFill>
            <a:srgbClr val="1E2761"/>
          </a:solidFill>
          <a:ln/>
        </p:spPr>
      </p:sp>
      <p:sp>
        <p:nvSpPr>
          <p:cNvPr id="7" name="Text 4"/>
          <p:cNvSpPr/>
          <p:nvPr/>
        </p:nvSpPr>
        <p:spPr>
          <a:xfrm>
            <a:off x="8019288" y="177393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Average Scheduled Days</a:t>
            </a:r>
            <a:endParaRPr lang="en-US" sz="1300" dirty="0"/>
          </a:p>
        </p:txBody>
      </p:sp>
      <p:sp>
        <p:nvSpPr>
          <p:cNvPr id="8" name="Shape 5"/>
          <p:cNvSpPr/>
          <p:nvPr/>
        </p:nvSpPr>
        <p:spPr>
          <a:xfrm>
            <a:off x="7744968" y="2295144"/>
            <a:ext cx="91440" cy="91440"/>
          </a:xfrm>
          <a:prstGeom prst="ellipse">
            <a:avLst/>
          </a:prstGeom>
          <a:solidFill>
            <a:srgbClr val="1E2761"/>
          </a:solidFill>
          <a:ln/>
        </p:spPr>
      </p:sp>
      <p:sp>
        <p:nvSpPr>
          <p:cNvPr id="9" name="Text 6"/>
          <p:cNvSpPr/>
          <p:nvPr/>
        </p:nvSpPr>
        <p:spPr>
          <a:xfrm>
            <a:off x="8019288" y="213969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Shipping Efficiency %</a:t>
            </a:r>
            <a:endParaRPr lang="en-US" sz="1300" dirty="0"/>
          </a:p>
        </p:txBody>
      </p:sp>
      <p:sp>
        <p:nvSpPr>
          <p:cNvPr id="10" name="Shape 7"/>
          <p:cNvSpPr/>
          <p:nvPr/>
        </p:nvSpPr>
        <p:spPr>
          <a:xfrm>
            <a:off x="7744968" y="2660904"/>
            <a:ext cx="91440" cy="91440"/>
          </a:xfrm>
          <a:prstGeom prst="ellipse">
            <a:avLst/>
          </a:prstGeom>
          <a:solidFill>
            <a:srgbClr val="1E2761"/>
          </a:solidFill>
          <a:ln/>
        </p:spPr>
      </p:sp>
      <p:sp>
        <p:nvSpPr>
          <p:cNvPr id="11" name="Text 8"/>
          <p:cNvSpPr/>
          <p:nvPr/>
        </p:nvSpPr>
        <p:spPr>
          <a:xfrm>
            <a:off x="8019288" y="250545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On-Time Shipping %</a:t>
            </a:r>
            <a:endParaRPr lang="en-US" sz="1300" dirty="0"/>
          </a:p>
        </p:txBody>
      </p:sp>
      <p:sp>
        <p:nvSpPr>
          <p:cNvPr id="12" name="Shape 9"/>
          <p:cNvSpPr/>
          <p:nvPr/>
        </p:nvSpPr>
        <p:spPr>
          <a:xfrm>
            <a:off x="7744968" y="3026664"/>
            <a:ext cx="91440" cy="91440"/>
          </a:xfrm>
          <a:prstGeom prst="ellipse">
            <a:avLst/>
          </a:prstGeom>
          <a:solidFill>
            <a:srgbClr val="1E2761"/>
          </a:solidFill>
          <a:ln/>
        </p:spPr>
      </p:sp>
      <p:sp>
        <p:nvSpPr>
          <p:cNvPr id="13" name="Text 10"/>
          <p:cNvSpPr/>
          <p:nvPr/>
        </p:nvSpPr>
        <p:spPr>
          <a:xfrm>
            <a:off x="8019288" y="287121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Schedule Adherence %</a:t>
            </a:r>
            <a:endParaRPr lang="en-US" sz="1300" dirty="0"/>
          </a:p>
        </p:txBody>
      </p:sp>
      <p:sp>
        <p:nvSpPr>
          <p:cNvPr id="14" name="Shape 11"/>
          <p:cNvSpPr/>
          <p:nvPr/>
        </p:nvSpPr>
        <p:spPr>
          <a:xfrm>
            <a:off x="7744968" y="3392424"/>
            <a:ext cx="91440" cy="91440"/>
          </a:xfrm>
          <a:prstGeom prst="ellipse">
            <a:avLst/>
          </a:prstGeom>
          <a:solidFill>
            <a:srgbClr val="1E2761"/>
          </a:solidFill>
          <a:ln/>
        </p:spPr>
      </p:sp>
      <p:sp>
        <p:nvSpPr>
          <p:cNvPr id="15" name="Text 12"/>
          <p:cNvSpPr/>
          <p:nvPr/>
        </p:nvSpPr>
        <p:spPr>
          <a:xfrm>
            <a:off x="8019288" y="3236976"/>
            <a:ext cx="3639312" cy="36576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Most Delayed Shipping Mode</a:t>
            </a:r>
            <a:endParaRPr lang="en-US" sz="1300" dirty="0"/>
          </a:p>
        </p:txBody>
      </p:sp>
      <p:sp>
        <p:nvSpPr>
          <p:cNvPr id="16" name="Shape 13"/>
          <p:cNvSpPr/>
          <p:nvPr/>
        </p:nvSpPr>
        <p:spPr>
          <a:xfrm>
            <a:off x="7726680" y="3886200"/>
            <a:ext cx="3931920" cy="2514600"/>
          </a:xfrm>
          <a:prstGeom prst="roundRect">
            <a:avLst>
              <a:gd name="adj" fmla="val 3636"/>
            </a:avLst>
          </a:prstGeom>
          <a:solidFill>
            <a:srgbClr val="F5F7FC"/>
          </a:solidFill>
          <a:ln/>
        </p:spPr>
      </p:sp>
      <p:sp>
        <p:nvSpPr>
          <p:cNvPr id="17" name="Text 14"/>
          <p:cNvSpPr/>
          <p:nvPr/>
        </p:nvSpPr>
        <p:spPr>
          <a:xfrm>
            <a:off x="8001000" y="4087368"/>
            <a:ext cx="3383280" cy="32004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Key Insights</a:t>
            </a:r>
            <a:endParaRPr lang="en-US" sz="1450" dirty="0"/>
          </a:p>
        </p:txBody>
      </p:sp>
      <p:sp>
        <p:nvSpPr>
          <p:cNvPr id="18" name="Text 15"/>
          <p:cNvSpPr/>
          <p:nvPr/>
        </p:nvSpPr>
        <p:spPr>
          <a:xfrm>
            <a:off x="8001000" y="4453128"/>
            <a:ext cx="3383280" cy="178308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200" dirty="0">
                <a:solidFill>
                  <a:srgbClr val="33415C"/>
                </a:solidFill>
                <a:latin typeface="Calibri" pitchFamily="34" charset="0"/>
                <a:ea typeface="Calibri" pitchFamily="34" charset="-122"/>
                <a:cs typeface="Calibri" pitchFamily="34" charset="-120"/>
              </a:rPr>
              <a:t>Actual shipping time was higher than scheduled shipping time.</a:t>
            </a:r>
            <a:endParaRPr lang="en-US" sz="1200" dirty="0"/>
          </a:p>
          <a:p>
            <a:pPr marL="342900" indent="-342900">
              <a:lnSpc>
                <a:spcPct val="115000"/>
              </a:lnSpc>
              <a:spcAft>
                <a:spcPts val="600"/>
              </a:spcAft>
              <a:buSzPct val="100000"/>
              <a:buChar char="•"/>
            </a:pPr>
            <a:r>
              <a:rPr lang="en-US" sz="1200" dirty="0">
                <a:solidFill>
                  <a:srgbClr val="33415C"/>
                </a:solidFill>
                <a:latin typeface="Calibri" pitchFamily="34" charset="0"/>
                <a:ea typeface="Calibri" pitchFamily="34" charset="-122"/>
                <a:cs typeface="Calibri" pitchFamily="34" charset="-120"/>
              </a:rPr>
              <a:t>Second Class showed the highest delivery delays.</a:t>
            </a:r>
            <a:endParaRPr lang="en-US" sz="1200" dirty="0"/>
          </a:p>
          <a:p>
            <a:pPr marL="342900" indent="-342900">
              <a:lnSpc>
                <a:spcPct val="115000"/>
              </a:lnSpc>
              <a:spcAft>
                <a:spcPts val="600"/>
              </a:spcAft>
              <a:buSzPct val="100000"/>
              <a:buChar char="•"/>
            </a:pPr>
            <a:r>
              <a:rPr lang="en-US" sz="1200" dirty="0">
                <a:solidFill>
                  <a:srgbClr val="33415C"/>
                </a:solidFill>
                <a:latin typeface="Calibri" pitchFamily="34" charset="0"/>
                <a:ea typeface="Calibri" pitchFamily="34" charset="-122"/>
                <a:cs typeface="Calibri" pitchFamily="34" charset="-120"/>
              </a:rPr>
              <a:t>Logistics efficiency differed across shipping modes.</a:t>
            </a:r>
            <a:endParaRPr lang="en-US" sz="1200" dirty="0"/>
          </a:p>
          <a:p>
            <a:pPr marL="342900" indent="-342900">
              <a:lnSpc>
                <a:spcPct val="115000"/>
              </a:lnSpc>
              <a:spcAft>
                <a:spcPts val="600"/>
              </a:spcAft>
              <a:buSzPct val="100000"/>
              <a:buChar char="•"/>
            </a:pPr>
            <a:r>
              <a:rPr lang="en-US" sz="1200" dirty="0">
                <a:solidFill>
                  <a:srgbClr val="33415C"/>
                </a:solidFill>
                <a:latin typeface="Calibri" pitchFamily="34" charset="0"/>
                <a:ea typeface="Calibri" pitchFamily="34" charset="-122"/>
                <a:cs typeface="Calibri" pitchFamily="34" charset="-120"/>
              </a:rPr>
              <a:t>Regional analysis highlighted opportunities for operational improvement.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Key Insights</a:t>
            </a:r>
            <a:endParaRPr lang="en-US" sz="3200" dirty="0"/>
          </a:p>
        </p:txBody>
      </p:sp>
      <p:sp>
        <p:nvSpPr>
          <p:cNvPr id="3" name="Shape 1"/>
          <p:cNvSpPr/>
          <p:nvPr/>
        </p:nvSpPr>
        <p:spPr>
          <a:xfrm>
            <a:off x="548640" y="1463040"/>
            <a:ext cx="5387188" cy="1341120"/>
          </a:xfrm>
          <a:prstGeom prst="roundRect">
            <a:avLst>
              <a:gd name="adj" fmla="val 6818"/>
            </a:avLst>
          </a:prstGeom>
          <a:solidFill>
            <a:srgbClr val="F5F7FC"/>
          </a:solidFill>
          <a:ln/>
          <a:effectLst>
            <a:outerShdw blurRad="101600" dist="38100" dir="2700000" algn="bl" rotWithShape="0">
              <a:srgbClr val="1E2761">
                <a:alpha val="12000"/>
              </a:srgbClr>
            </a:outerShdw>
          </a:effectLst>
        </p:spPr>
      </p:sp>
      <p:sp>
        <p:nvSpPr>
          <p:cNvPr id="4" name="Shape 2"/>
          <p:cNvSpPr/>
          <p:nvPr/>
        </p:nvSpPr>
        <p:spPr>
          <a:xfrm>
            <a:off x="822960" y="1932432"/>
            <a:ext cx="402336" cy="402336"/>
          </a:xfrm>
          <a:prstGeom prst="ellipse">
            <a:avLst/>
          </a:prstGeom>
          <a:solidFill>
            <a:srgbClr val="1E2761"/>
          </a:solidFill>
          <a:ln/>
        </p:spPr>
      </p:sp>
      <p:sp>
        <p:nvSpPr>
          <p:cNvPr id="5" name="Text 3"/>
          <p:cNvSpPr/>
          <p:nvPr/>
        </p:nvSpPr>
        <p:spPr>
          <a:xfrm>
            <a:off x="822960" y="193243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389888" y="1463040"/>
            <a:ext cx="4289908" cy="1341120"/>
          </a:xfrm>
          <a:prstGeom prst="rect">
            <a:avLst/>
          </a:prstGeom>
          <a:noFill/>
          <a:ln/>
        </p:spPr>
        <p:txBody>
          <a:bodyPr wrap="square" lIns="0" tIns="0" rIns="0" bIns="0" rtlCol="0" anchor="ctr"/>
          <a:lstStyle/>
          <a:p>
            <a:pPr marL="0" indent="0">
              <a:buNone/>
            </a:pPr>
            <a:r>
              <a:rPr lang="en-US" sz="1400" dirty="0">
                <a:solidFill>
                  <a:srgbClr val="33415C"/>
                </a:solidFill>
                <a:latin typeface="Calibri" pitchFamily="34" charset="0"/>
                <a:ea typeface="Calibri" pitchFamily="34" charset="-122"/>
                <a:cs typeface="Calibri" pitchFamily="34" charset="-120"/>
              </a:rPr>
              <a:t>Late deliveries accounted for over half of the total deliveries.</a:t>
            </a:r>
            <a:endParaRPr lang="en-US" sz="1400" dirty="0"/>
          </a:p>
        </p:txBody>
      </p:sp>
      <p:sp>
        <p:nvSpPr>
          <p:cNvPr id="7" name="Shape 5"/>
          <p:cNvSpPr/>
          <p:nvPr/>
        </p:nvSpPr>
        <p:spPr>
          <a:xfrm>
            <a:off x="6255868" y="1463040"/>
            <a:ext cx="5387188" cy="1341120"/>
          </a:xfrm>
          <a:prstGeom prst="roundRect">
            <a:avLst>
              <a:gd name="adj" fmla="val 6818"/>
            </a:avLst>
          </a:prstGeom>
          <a:solidFill>
            <a:srgbClr val="F5F7FC"/>
          </a:solidFill>
          <a:ln/>
          <a:effectLst>
            <a:outerShdw blurRad="101600" dist="38100" dir="2700000" algn="bl" rotWithShape="0">
              <a:srgbClr val="1E2761">
                <a:alpha val="12000"/>
              </a:srgbClr>
            </a:outerShdw>
          </a:effectLst>
        </p:spPr>
      </p:sp>
      <p:sp>
        <p:nvSpPr>
          <p:cNvPr id="8" name="Shape 6"/>
          <p:cNvSpPr/>
          <p:nvPr/>
        </p:nvSpPr>
        <p:spPr>
          <a:xfrm>
            <a:off x="6530188" y="1932432"/>
            <a:ext cx="402336" cy="402336"/>
          </a:xfrm>
          <a:prstGeom prst="ellipse">
            <a:avLst/>
          </a:prstGeom>
          <a:solidFill>
            <a:srgbClr val="1E2761"/>
          </a:solidFill>
          <a:ln/>
        </p:spPr>
      </p:sp>
      <p:sp>
        <p:nvSpPr>
          <p:cNvPr id="9" name="Text 7"/>
          <p:cNvSpPr/>
          <p:nvPr/>
        </p:nvSpPr>
        <p:spPr>
          <a:xfrm>
            <a:off x="6530188" y="193243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7097116" y="1463040"/>
            <a:ext cx="4289908" cy="1341120"/>
          </a:xfrm>
          <a:prstGeom prst="rect">
            <a:avLst/>
          </a:prstGeom>
          <a:noFill/>
          <a:ln/>
        </p:spPr>
        <p:txBody>
          <a:bodyPr wrap="square" lIns="0" tIns="0" rIns="0" bIns="0" rtlCol="0" anchor="ctr"/>
          <a:lstStyle/>
          <a:p>
            <a:pPr marL="0" indent="0">
              <a:buNone/>
            </a:pPr>
            <a:r>
              <a:rPr lang="en-US" sz="1400" dirty="0">
                <a:solidFill>
                  <a:srgbClr val="33415C"/>
                </a:solidFill>
                <a:latin typeface="Calibri" pitchFamily="34" charset="0"/>
                <a:ea typeface="Calibri" pitchFamily="34" charset="-122"/>
                <a:cs typeface="Calibri" pitchFamily="34" charset="-120"/>
              </a:rPr>
              <a:t>Standard Class was the most frequently used shipping mode.</a:t>
            </a:r>
            <a:endParaRPr lang="en-US" sz="1400" dirty="0"/>
          </a:p>
        </p:txBody>
      </p:sp>
      <p:sp>
        <p:nvSpPr>
          <p:cNvPr id="11" name="Shape 9"/>
          <p:cNvSpPr/>
          <p:nvPr/>
        </p:nvSpPr>
        <p:spPr>
          <a:xfrm>
            <a:off x="548640" y="3124200"/>
            <a:ext cx="5387188" cy="1341120"/>
          </a:xfrm>
          <a:prstGeom prst="roundRect">
            <a:avLst>
              <a:gd name="adj" fmla="val 6818"/>
            </a:avLst>
          </a:prstGeom>
          <a:solidFill>
            <a:srgbClr val="F5F7FC"/>
          </a:solidFill>
          <a:ln/>
          <a:effectLst>
            <a:outerShdw blurRad="101600" dist="38100" dir="2700000" algn="bl" rotWithShape="0">
              <a:srgbClr val="1E2761">
                <a:alpha val="12000"/>
              </a:srgbClr>
            </a:outerShdw>
          </a:effectLst>
        </p:spPr>
      </p:sp>
      <p:sp>
        <p:nvSpPr>
          <p:cNvPr id="12" name="Shape 10"/>
          <p:cNvSpPr/>
          <p:nvPr/>
        </p:nvSpPr>
        <p:spPr>
          <a:xfrm>
            <a:off x="822960" y="3593592"/>
            <a:ext cx="402336" cy="402336"/>
          </a:xfrm>
          <a:prstGeom prst="ellipse">
            <a:avLst/>
          </a:prstGeom>
          <a:solidFill>
            <a:srgbClr val="1E2761"/>
          </a:solidFill>
          <a:ln/>
        </p:spPr>
      </p:sp>
      <p:sp>
        <p:nvSpPr>
          <p:cNvPr id="13" name="Text 11"/>
          <p:cNvSpPr/>
          <p:nvPr/>
        </p:nvSpPr>
        <p:spPr>
          <a:xfrm>
            <a:off x="822960" y="359359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389888" y="3124200"/>
            <a:ext cx="4289908" cy="1341120"/>
          </a:xfrm>
          <a:prstGeom prst="rect">
            <a:avLst/>
          </a:prstGeom>
          <a:noFill/>
          <a:ln/>
        </p:spPr>
        <p:txBody>
          <a:bodyPr wrap="square" lIns="0" tIns="0" rIns="0" bIns="0" rtlCol="0" anchor="ctr"/>
          <a:lstStyle/>
          <a:p>
            <a:pPr marL="0" indent="0">
              <a:buNone/>
            </a:pPr>
            <a:r>
              <a:rPr lang="en-US" sz="1400" dirty="0">
                <a:solidFill>
                  <a:srgbClr val="33415C"/>
                </a:solidFill>
                <a:latin typeface="Calibri" pitchFamily="34" charset="0"/>
                <a:ea typeface="Calibri" pitchFamily="34" charset="-122"/>
                <a:cs typeface="Calibri" pitchFamily="34" charset="-120"/>
              </a:rPr>
              <a:t>Fishing category achieved the highest sales and profit.</a:t>
            </a:r>
            <a:endParaRPr lang="en-US" sz="1400" dirty="0"/>
          </a:p>
        </p:txBody>
      </p:sp>
      <p:sp>
        <p:nvSpPr>
          <p:cNvPr id="15" name="Shape 13"/>
          <p:cNvSpPr/>
          <p:nvPr/>
        </p:nvSpPr>
        <p:spPr>
          <a:xfrm>
            <a:off x="6255868" y="3124200"/>
            <a:ext cx="5387188" cy="1341120"/>
          </a:xfrm>
          <a:prstGeom prst="roundRect">
            <a:avLst>
              <a:gd name="adj" fmla="val 6818"/>
            </a:avLst>
          </a:prstGeom>
          <a:solidFill>
            <a:srgbClr val="F5F7FC"/>
          </a:solidFill>
          <a:ln/>
          <a:effectLst>
            <a:outerShdw blurRad="101600" dist="38100" dir="2700000" algn="bl" rotWithShape="0">
              <a:srgbClr val="1E2761">
                <a:alpha val="12000"/>
              </a:srgbClr>
            </a:outerShdw>
          </a:effectLst>
        </p:spPr>
      </p:sp>
      <p:sp>
        <p:nvSpPr>
          <p:cNvPr id="16" name="Shape 14"/>
          <p:cNvSpPr/>
          <p:nvPr/>
        </p:nvSpPr>
        <p:spPr>
          <a:xfrm>
            <a:off x="6530188" y="3593592"/>
            <a:ext cx="402336" cy="402336"/>
          </a:xfrm>
          <a:prstGeom prst="ellipse">
            <a:avLst/>
          </a:prstGeom>
          <a:solidFill>
            <a:srgbClr val="1E2761"/>
          </a:solidFill>
          <a:ln/>
        </p:spPr>
      </p:sp>
      <p:sp>
        <p:nvSpPr>
          <p:cNvPr id="17" name="Text 15"/>
          <p:cNvSpPr/>
          <p:nvPr/>
        </p:nvSpPr>
        <p:spPr>
          <a:xfrm>
            <a:off x="6530188" y="359359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7097116" y="3124200"/>
            <a:ext cx="4289908" cy="1341120"/>
          </a:xfrm>
          <a:prstGeom prst="rect">
            <a:avLst/>
          </a:prstGeom>
          <a:noFill/>
          <a:ln/>
        </p:spPr>
        <p:txBody>
          <a:bodyPr wrap="square" lIns="0" tIns="0" rIns="0" bIns="0" rtlCol="0" anchor="ctr"/>
          <a:lstStyle/>
          <a:p>
            <a:pPr marL="0" indent="0">
              <a:buNone/>
            </a:pPr>
            <a:r>
              <a:rPr lang="en-US" sz="1400" dirty="0">
                <a:solidFill>
                  <a:srgbClr val="33415C"/>
                </a:solidFill>
                <a:latin typeface="Calibri" pitchFamily="34" charset="0"/>
                <a:ea typeface="Calibri" pitchFamily="34" charset="-122"/>
                <a:cs typeface="Calibri" pitchFamily="34" charset="-120"/>
              </a:rPr>
              <a:t>Order completion rate was approximately 44%.</a:t>
            </a:r>
            <a:endParaRPr lang="en-US" sz="1400" dirty="0"/>
          </a:p>
        </p:txBody>
      </p:sp>
      <p:sp>
        <p:nvSpPr>
          <p:cNvPr id="19" name="Shape 17"/>
          <p:cNvSpPr/>
          <p:nvPr/>
        </p:nvSpPr>
        <p:spPr>
          <a:xfrm>
            <a:off x="548640" y="4785360"/>
            <a:ext cx="5387188" cy="1341120"/>
          </a:xfrm>
          <a:prstGeom prst="roundRect">
            <a:avLst>
              <a:gd name="adj" fmla="val 6818"/>
            </a:avLst>
          </a:prstGeom>
          <a:solidFill>
            <a:srgbClr val="F5F7FC"/>
          </a:solidFill>
          <a:ln/>
          <a:effectLst>
            <a:outerShdw blurRad="101600" dist="38100" dir="2700000" algn="bl" rotWithShape="0">
              <a:srgbClr val="1E2761">
                <a:alpha val="12000"/>
              </a:srgbClr>
            </a:outerShdw>
          </a:effectLst>
        </p:spPr>
      </p:sp>
      <p:sp>
        <p:nvSpPr>
          <p:cNvPr id="20" name="Shape 18"/>
          <p:cNvSpPr/>
          <p:nvPr/>
        </p:nvSpPr>
        <p:spPr>
          <a:xfrm>
            <a:off x="822960" y="5254752"/>
            <a:ext cx="402336" cy="402336"/>
          </a:xfrm>
          <a:prstGeom prst="ellipse">
            <a:avLst/>
          </a:prstGeom>
          <a:solidFill>
            <a:srgbClr val="1E2761"/>
          </a:solidFill>
          <a:ln/>
        </p:spPr>
      </p:sp>
      <p:sp>
        <p:nvSpPr>
          <p:cNvPr id="21" name="Text 19"/>
          <p:cNvSpPr/>
          <p:nvPr/>
        </p:nvSpPr>
        <p:spPr>
          <a:xfrm>
            <a:off x="822960" y="525475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389888" y="4785360"/>
            <a:ext cx="4289908" cy="1341120"/>
          </a:xfrm>
          <a:prstGeom prst="rect">
            <a:avLst/>
          </a:prstGeom>
          <a:noFill/>
          <a:ln/>
        </p:spPr>
        <p:txBody>
          <a:bodyPr wrap="square" lIns="0" tIns="0" rIns="0" bIns="0" rtlCol="0" anchor="ctr"/>
          <a:lstStyle/>
          <a:p>
            <a:pPr marL="0" indent="0">
              <a:buNone/>
            </a:pPr>
            <a:r>
              <a:rPr lang="en-US" sz="1400" dirty="0">
                <a:solidFill>
                  <a:srgbClr val="33415C"/>
                </a:solidFill>
                <a:latin typeface="Calibri" pitchFamily="34" charset="0"/>
                <a:ea typeface="Calibri" pitchFamily="34" charset="-122"/>
                <a:cs typeface="Calibri" pitchFamily="34" charset="-120"/>
              </a:rPr>
              <a:t>Second Class experienced the highest average delivery delay.</a:t>
            </a:r>
            <a:endParaRPr lang="en-US" sz="1400" dirty="0"/>
          </a:p>
        </p:txBody>
      </p:sp>
      <p:sp>
        <p:nvSpPr>
          <p:cNvPr id="23" name="Shape 21"/>
          <p:cNvSpPr/>
          <p:nvPr/>
        </p:nvSpPr>
        <p:spPr>
          <a:xfrm>
            <a:off x="6255868" y="4785360"/>
            <a:ext cx="5387188" cy="1341120"/>
          </a:xfrm>
          <a:prstGeom prst="roundRect">
            <a:avLst>
              <a:gd name="adj" fmla="val 6818"/>
            </a:avLst>
          </a:prstGeom>
          <a:solidFill>
            <a:srgbClr val="F5F7FC"/>
          </a:solidFill>
          <a:ln/>
          <a:effectLst>
            <a:outerShdw blurRad="101600" dist="38100" dir="2700000" algn="bl" rotWithShape="0">
              <a:srgbClr val="1E2761">
                <a:alpha val="12000"/>
              </a:srgbClr>
            </a:outerShdw>
          </a:effectLst>
        </p:spPr>
      </p:sp>
      <p:sp>
        <p:nvSpPr>
          <p:cNvPr id="24" name="Shape 22"/>
          <p:cNvSpPr/>
          <p:nvPr/>
        </p:nvSpPr>
        <p:spPr>
          <a:xfrm>
            <a:off x="6530188" y="5254752"/>
            <a:ext cx="402336" cy="402336"/>
          </a:xfrm>
          <a:prstGeom prst="ellipse">
            <a:avLst/>
          </a:prstGeom>
          <a:solidFill>
            <a:srgbClr val="1E2761"/>
          </a:solidFill>
          <a:ln/>
        </p:spPr>
      </p:sp>
      <p:sp>
        <p:nvSpPr>
          <p:cNvPr id="25" name="Text 23"/>
          <p:cNvSpPr/>
          <p:nvPr/>
        </p:nvSpPr>
        <p:spPr>
          <a:xfrm>
            <a:off x="6530188" y="525475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6" name="Text 24"/>
          <p:cNvSpPr/>
          <p:nvPr/>
        </p:nvSpPr>
        <p:spPr>
          <a:xfrm>
            <a:off x="7097116" y="4785360"/>
            <a:ext cx="4289908" cy="1341120"/>
          </a:xfrm>
          <a:prstGeom prst="rect">
            <a:avLst/>
          </a:prstGeom>
          <a:noFill/>
          <a:ln/>
        </p:spPr>
        <p:txBody>
          <a:bodyPr wrap="square" lIns="0" tIns="0" rIns="0" bIns="0" rtlCol="0" anchor="ctr"/>
          <a:lstStyle/>
          <a:p>
            <a:pPr marL="0" indent="0">
              <a:buNone/>
            </a:pPr>
            <a:r>
              <a:rPr lang="en-US" sz="1400" dirty="0">
                <a:solidFill>
                  <a:srgbClr val="33415C"/>
                </a:solidFill>
                <a:latin typeface="Calibri" pitchFamily="34" charset="0"/>
                <a:ea typeface="Calibri" pitchFamily="34" charset="-122"/>
                <a:cs typeface="Calibri" pitchFamily="34" charset="-120"/>
              </a:rPr>
              <a:t>Logistics performance varied across different regions.</a:t>
            </a:r>
            <a:endParaRPr lang="en-US" sz="1400" dirty="0"/>
          </a:p>
        </p:txBody>
      </p:sp>
      <p:sp>
        <p:nvSpPr>
          <p:cNvPr id="27" name="Text 25"/>
          <p:cNvSpPr/>
          <p:nvPr/>
        </p:nvSpPr>
        <p:spPr>
          <a:xfrm>
            <a:off x="11551615" y="6446520"/>
            <a:ext cx="365760" cy="274320"/>
          </a:xfrm>
          <a:prstGeom prst="rect">
            <a:avLst/>
          </a:prstGeom>
          <a:noFill/>
          <a:ln/>
        </p:spPr>
        <p:txBody>
          <a:bodyPr wrap="square" lIns="0" tIns="0" rIns="0" bIns="0" rtlCol="0" anchor="ctr"/>
          <a:lstStyle/>
          <a:p>
            <a:pPr marL="0" indent="0" algn="r">
              <a:buNone/>
            </a:pP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Conclusion</a:t>
            </a:r>
            <a:endParaRPr lang="en-US" sz="3200" dirty="0"/>
          </a:p>
        </p:txBody>
      </p:sp>
      <p:sp>
        <p:nvSpPr>
          <p:cNvPr id="3" name="Text 1"/>
          <p:cNvSpPr/>
          <p:nvPr/>
        </p:nvSpPr>
        <p:spPr>
          <a:xfrm>
            <a:off x="548640" y="1554480"/>
            <a:ext cx="11094415" cy="1005840"/>
          </a:xfrm>
          <a:prstGeom prst="rect">
            <a:avLst/>
          </a:prstGeom>
          <a:noFill/>
          <a:ln/>
        </p:spPr>
        <p:txBody>
          <a:bodyPr wrap="square" lIns="0" tIns="0" rIns="0" bIns="0" rtlCol="0" anchor="t"/>
          <a:lstStyle/>
          <a:p>
            <a:pPr marL="0" indent="0">
              <a:lnSpc>
                <a:spcPct val="130000"/>
              </a:lnSpc>
              <a:buNone/>
            </a:pPr>
            <a:r>
              <a:rPr lang="en-US" sz="1800" b="1" dirty="0">
                <a:solidFill>
                  <a:srgbClr val="1E2761"/>
                </a:solidFill>
                <a:latin typeface="Calibri" pitchFamily="34" charset="0"/>
                <a:ea typeface="Calibri" pitchFamily="34" charset="-122"/>
                <a:cs typeface="Calibri" pitchFamily="34" charset="-120"/>
              </a:rPr>
              <a:t>TrackDel</a:t>
            </a:r>
            <a:r>
              <a:rPr lang="en-US" sz="1800" dirty="0">
                <a:solidFill>
                  <a:srgbClr val="33415C"/>
                </a:solidFill>
                <a:latin typeface="Calibri" pitchFamily="34" charset="0"/>
                <a:ea typeface="Calibri" pitchFamily="34" charset="-122"/>
                <a:cs typeface="Calibri" pitchFamily="34" charset="-120"/>
              </a:rPr>
              <a:t> successfully transformed raw supply chain data into interactive dashboards using </a:t>
            </a:r>
            <a:r>
              <a:rPr lang="en-US" sz="1800" b="1" dirty="0">
                <a:solidFill>
                  <a:srgbClr val="1E2761"/>
                </a:solidFill>
                <a:latin typeface="Calibri" pitchFamily="34" charset="0"/>
                <a:ea typeface="Calibri" pitchFamily="34" charset="-122"/>
                <a:cs typeface="Calibri" pitchFamily="34" charset="-120"/>
              </a:rPr>
              <a:t>Python, MySQL, and Power BI</a:t>
            </a:r>
            <a:r>
              <a:rPr lang="en-US" sz="1800" dirty="0">
                <a:solidFill>
                  <a:srgbClr val="33415C"/>
                </a:solidFill>
                <a:latin typeface="Calibri" pitchFamily="34" charset="0"/>
                <a:ea typeface="Calibri" pitchFamily="34" charset="-122"/>
                <a:cs typeface="Calibri" pitchFamily="34" charset="-120"/>
              </a:rPr>
              <a:t>.</a:t>
            </a:r>
            <a:endParaRPr lang="en-US" sz="1800" dirty="0"/>
          </a:p>
        </p:txBody>
      </p:sp>
      <p:sp>
        <p:nvSpPr>
          <p:cNvPr id="4" name="Text 2"/>
          <p:cNvSpPr/>
          <p:nvPr/>
        </p:nvSpPr>
        <p:spPr>
          <a:xfrm>
            <a:off x="548640" y="2743200"/>
            <a:ext cx="11094415" cy="1188720"/>
          </a:xfrm>
          <a:prstGeom prst="rect">
            <a:avLst/>
          </a:prstGeom>
          <a:noFill/>
          <a:ln/>
        </p:spPr>
        <p:txBody>
          <a:bodyPr wrap="square" lIns="0" tIns="0" rIns="0" bIns="0" rtlCol="0" anchor="t"/>
          <a:lstStyle/>
          <a:p>
            <a:pPr marL="0" indent="0">
              <a:lnSpc>
                <a:spcPct val="130000"/>
              </a:lnSpc>
              <a:buNone/>
            </a:pPr>
            <a:r>
              <a:rPr lang="en-US" sz="1800" dirty="0">
                <a:solidFill>
                  <a:srgbClr val="33415C"/>
                </a:solidFill>
                <a:latin typeface="Calibri" pitchFamily="34" charset="0"/>
                <a:ea typeface="Calibri" pitchFamily="34" charset="-122"/>
                <a:cs typeface="Calibri" pitchFamily="34" charset="-120"/>
              </a:rPr>
              <a:t>The project enables users to analyze delivery delays, supplier performance, shipping operations, order status, and logistics efficiency through meaningful visualizations and KPIs.</a:t>
            </a:r>
            <a:endParaRPr lang="en-US" sz="1800" dirty="0"/>
          </a:p>
        </p:txBody>
      </p:sp>
      <p:sp>
        <p:nvSpPr>
          <p:cNvPr id="5" name="Text 3"/>
          <p:cNvSpPr/>
          <p:nvPr/>
        </p:nvSpPr>
        <p:spPr>
          <a:xfrm>
            <a:off x="548640" y="4023360"/>
            <a:ext cx="11094415" cy="1188720"/>
          </a:xfrm>
          <a:prstGeom prst="rect">
            <a:avLst/>
          </a:prstGeom>
          <a:noFill/>
          <a:ln/>
        </p:spPr>
        <p:txBody>
          <a:bodyPr wrap="square" lIns="0" tIns="0" rIns="0" bIns="0" rtlCol="0" anchor="t"/>
          <a:lstStyle/>
          <a:p>
            <a:pPr marL="0" indent="0">
              <a:lnSpc>
                <a:spcPct val="130000"/>
              </a:lnSpc>
              <a:buNone/>
            </a:pPr>
            <a:r>
              <a:rPr lang="en-US" sz="1800" dirty="0">
                <a:solidFill>
                  <a:srgbClr val="33415C"/>
                </a:solidFill>
                <a:latin typeface="Calibri" pitchFamily="34" charset="0"/>
                <a:ea typeface="Calibri" pitchFamily="34" charset="-122"/>
                <a:cs typeface="Calibri" pitchFamily="34" charset="-120"/>
              </a:rPr>
              <a:t>The dashboards support data-driven decision-making and provide valuable insights for improving overall supply chain performance</a:t>
            </a:r>
            <a:r>
              <a:rPr lang="en-US" dirty="0">
                <a:solidFill>
                  <a:srgbClr val="33415C"/>
                </a:solidFill>
                <a:latin typeface="Calibri" pitchFamily="34" charset="0"/>
                <a:ea typeface="Calibri" pitchFamily="34" charset="-122"/>
                <a:cs typeface="Calibri" pitchFamily="34" charset="-120"/>
              </a:rPr>
              <a:t>. </a:t>
            </a:r>
          </a:p>
          <a:p>
            <a:pPr marL="0" indent="0">
              <a:lnSpc>
                <a:spcPct val="130000"/>
              </a:lnSpc>
              <a:buNone/>
            </a:pPr>
            <a:endParaRPr lang="en-US" sz="1600" dirty="0">
              <a:solidFill>
                <a:srgbClr val="33415C"/>
              </a:solidFill>
              <a:latin typeface="Calibri" pitchFamily="34" charset="0"/>
              <a:ea typeface="Calibri" pitchFamily="34" charset="-122"/>
              <a:cs typeface="Calibri" pitchFamily="34" charset="-120"/>
            </a:endParaRPr>
          </a:p>
          <a:p>
            <a:pPr marL="0" indent="0">
              <a:lnSpc>
                <a:spcPct val="130000"/>
              </a:lnSpc>
              <a:buNone/>
            </a:pPr>
            <a:endParaRPr lang="en-US" sz="1600" dirty="0">
              <a:solidFill>
                <a:srgbClr val="33415C"/>
              </a:solidFill>
              <a:latin typeface="Calibri" pitchFamily="34" charset="0"/>
              <a:ea typeface="Calibri" pitchFamily="34" charset="-122"/>
              <a:cs typeface="Calibri" pitchFamily="34" charset="-120"/>
            </a:endParaRPr>
          </a:p>
          <a:p>
            <a:pPr marL="0" indent="0">
              <a:lnSpc>
                <a:spcPct val="130000"/>
              </a:lnSpc>
              <a:buNone/>
            </a:pPr>
            <a:r>
              <a:rPr lang="en-US" dirty="0">
                <a:solidFill>
                  <a:srgbClr val="33415C"/>
                </a:solidFill>
                <a:latin typeface="Calibri" pitchFamily="34" charset="0"/>
                <a:ea typeface="Calibri" pitchFamily="34" charset="-122"/>
                <a:cs typeface="Calibri" pitchFamily="34" charset="-120"/>
              </a:rPr>
              <a:t>The project demonstrates how Business Intelligence tools can support effective supply chain monitoring and decision-making.</a:t>
            </a:r>
          </a:p>
        </p:txBody>
      </p:sp>
      <p:sp>
        <p:nvSpPr>
          <p:cNvPr id="6" name="Text 4"/>
          <p:cNvSpPr/>
          <p:nvPr/>
        </p:nvSpPr>
        <p:spPr>
          <a:xfrm>
            <a:off x="11551615" y="6446520"/>
            <a:ext cx="365760" cy="274320"/>
          </a:xfrm>
          <a:prstGeom prst="rect">
            <a:avLst/>
          </a:prstGeom>
          <a:noFill/>
          <a:ln/>
        </p:spPr>
        <p:txBody>
          <a:bodyPr wrap="square" lIns="0" tIns="0" rIns="0" bIns="0" rtlCol="0" anchor="ctr"/>
          <a:lstStyle/>
          <a:p>
            <a:pPr marL="0" indent="0" algn="r">
              <a:buNone/>
            </a:pP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265615" y="-1463040"/>
            <a:ext cx="4206240" cy="4206240"/>
          </a:xfrm>
          <a:prstGeom prst="ellipse">
            <a:avLst/>
          </a:prstGeom>
          <a:solidFill>
            <a:srgbClr val="CADCFC"/>
          </a:solidFill>
          <a:ln/>
        </p:spPr>
      </p:sp>
      <p:sp>
        <p:nvSpPr>
          <p:cNvPr id="3" name="Shape 1"/>
          <p:cNvSpPr/>
          <p:nvPr/>
        </p:nvSpPr>
        <p:spPr>
          <a:xfrm>
            <a:off x="-1645920" y="4663440"/>
            <a:ext cx="3840480" cy="3840480"/>
          </a:xfrm>
          <a:prstGeom prst="ellipse">
            <a:avLst/>
          </a:prstGeom>
          <a:solidFill>
            <a:srgbClr val="F5F7FC"/>
          </a:solidFill>
          <a:ln/>
        </p:spPr>
      </p:sp>
      <p:sp>
        <p:nvSpPr>
          <p:cNvPr id="4" name="Text 2"/>
          <p:cNvSpPr/>
          <p:nvPr/>
        </p:nvSpPr>
        <p:spPr>
          <a:xfrm>
            <a:off x="822960" y="1463040"/>
            <a:ext cx="10545775" cy="914400"/>
          </a:xfrm>
          <a:prstGeom prst="rect">
            <a:avLst/>
          </a:prstGeom>
          <a:noFill/>
          <a:ln/>
        </p:spPr>
        <p:txBody>
          <a:bodyPr wrap="square" lIns="0" tIns="0" rIns="0" bIns="0" rtlCol="0" anchor="ctr"/>
          <a:lstStyle/>
          <a:p>
            <a:pPr marL="0" indent="0">
              <a:buNone/>
            </a:pPr>
            <a:r>
              <a:rPr lang="en-US" sz="12500" b="1" dirty="0">
                <a:solidFill>
                  <a:srgbClr val="1E2761"/>
                </a:solidFill>
                <a:latin typeface="Cambria" pitchFamily="34" charset="0"/>
                <a:ea typeface="Cambria" pitchFamily="34" charset="-122"/>
                <a:cs typeface="Cambria" pitchFamily="34" charset="-120"/>
              </a:rPr>
              <a:t>Thank You</a:t>
            </a:r>
            <a:endParaRPr lang="en-US" sz="12500" dirty="0"/>
          </a:p>
        </p:txBody>
      </p:sp>
      <p:sp>
        <p:nvSpPr>
          <p:cNvPr id="5" name="Text 3"/>
          <p:cNvSpPr/>
          <p:nvPr/>
        </p:nvSpPr>
        <p:spPr>
          <a:xfrm>
            <a:off x="822961" y="3048000"/>
            <a:ext cx="3872608" cy="822960"/>
          </a:xfrm>
          <a:prstGeom prst="rect">
            <a:avLst/>
          </a:prstGeom>
          <a:noFill/>
          <a:ln/>
        </p:spPr>
        <p:txBody>
          <a:bodyPr wrap="square" lIns="0" tIns="0" rIns="0" bIns="0" rtlCol="0" anchor="ctr"/>
          <a:lstStyle/>
          <a:p>
            <a:pPr marL="0" indent="0">
              <a:buNone/>
            </a:pPr>
            <a:r>
              <a:rPr lang="en-US" sz="3200" dirty="0">
                <a:solidFill>
                  <a:srgbClr val="33415C"/>
                </a:solidFill>
                <a:latin typeface="Calibri" pitchFamily="34" charset="0"/>
                <a:ea typeface="Calibri" pitchFamily="34" charset="-122"/>
                <a:cs typeface="Calibri" pitchFamily="34" charset="-120"/>
              </a:rPr>
              <a:t>Questions &amp; Discussion</a:t>
            </a:r>
            <a:endParaRPr lang="en-US" sz="3200" dirty="0"/>
          </a:p>
        </p:txBody>
      </p:sp>
      <p:sp>
        <p:nvSpPr>
          <p:cNvPr id="6" name="Text 4"/>
          <p:cNvSpPr/>
          <p:nvPr/>
        </p:nvSpPr>
        <p:spPr>
          <a:xfrm>
            <a:off x="822960" y="3200400"/>
            <a:ext cx="10545775" cy="457200"/>
          </a:xfrm>
          <a:prstGeom prst="rect">
            <a:avLst/>
          </a:prstGeom>
          <a:noFill/>
          <a:ln/>
        </p:spPr>
        <p:txBody>
          <a:bodyPr wrap="square" lIns="0" tIns="0" rIns="0" bIns="0" rtlCol="0" anchor="ctr"/>
          <a:lstStyle/>
          <a:p>
            <a:pPr marL="0" indent="0">
              <a:buNone/>
            </a:pPr>
            <a:endParaRPr lang="en-US" sz="1500" dirty="0"/>
          </a:p>
        </p:txBody>
      </p:sp>
      <p:sp>
        <p:nvSpPr>
          <p:cNvPr id="7" name="Text 5"/>
          <p:cNvSpPr/>
          <p:nvPr/>
        </p:nvSpPr>
        <p:spPr>
          <a:xfrm>
            <a:off x="822960" y="4114800"/>
            <a:ext cx="3108960" cy="320040"/>
          </a:xfrm>
          <a:prstGeom prst="rect">
            <a:avLst/>
          </a:prstGeom>
          <a:noFill/>
          <a:ln/>
        </p:spPr>
        <p:txBody>
          <a:bodyPr wrap="square" lIns="0" tIns="0" rIns="0" bIns="0" rtlCol="0" anchor="ctr"/>
          <a:lstStyle/>
          <a:p>
            <a:pPr marL="0" indent="0">
              <a:buNone/>
            </a:pPr>
            <a:endParaRPr lang="en-US" sz="1100" dirty="0"/>
          </a:p>
        </p:txBody>
      </p:sp>
      <p:sp>
        <p:nvSpPr>
          <p:cNvPr id="8" name="Text 6"/>
          <p:cNvSpPr/>
          <p:nvPr/>
        </p:nvSpPr>
        <p:spPr>
          <a:xfrm>
            <a:off x="822960" y="4480560"/>
            <a:ext cx="3108960" cy="822960"/>
          </a:xfrm>
          <a:prstGeom prst="rect">
            <a:avLst/>
          </a:prstGeom>
          <a:noFill/>
          <a:ln/>
        </p:spPr>
        <p:txBody>
          <a:bodyPr wrap="square" lIns="0" tIns="0" rIns="0" bIns="0" rtlCol="0" anchor="t"/>
          <a:lstStyle/>
          <a:p>
            <a:pPr marL="342900" indent="-342900">
              <a:buSzPct val="100000"/>
              <a:buChar char="•"/>
            </a:pPr>
            <a:endParaRPr lang="en-US" sz="1500" dirty="0"/>
          </a:p>
        </p:txBody>
      </p:sp>
      <p:sp>
        <p:nvSpPr>
          <p:cNvPr id="9" name="Text 7"/>
          <p:cNvSpPr/>
          <p:nvPr/>
        </p:nvSpPr>
        <p:spPr>
          <a:xfrm>
            <a:off x="4389120" y="4114800"/>
            <a:ext cx="4023360" cy="320040"/>
          </a:xfrm>
          <a:prstGeom prst="rect">
            <a:avLst/>
          </a:prstGeom>
          <a:noFill/>
          <a:ln/>
        </p:spPr>
        <p:txBody>
          <a:bodyPr wrap="square" lIns="0" tIns="0" rIns="0" bIns="0" rtlCol="0" anchor="ctr"/>
          <a:lstStyle/>
          <a:p>
            <a:pPr marL="0" indent="0">
              <a:buNone/>
            </a:pP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194</TotalTime>
  <Words>608</Words>
  <Application>Microsoft Office PowerPoint</Application>
  <PresentationFormat>Widescreen</PresentationFormat>
  <Paragraphs>138</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TrackDel - Supply Chain Delivery Performance Dashboard</dc:title>
  <dc:subject>PptxGenJS Presentation</dc:subject>
  <dc:creator>Tanishq, Akash</dc:creator>
  <cp:lastModifiedBy>Tanishq Nahar</cp:lastModifiedBy>
  <cp:revision>17</cp:revision>
  <dcterms:created xsi:type="dcterms:W3CDTF">2026-06-25T17:11:45Z</dcterms:created>
  <dcterms:modified xsi:type="dcterms:W3CDTF">2026-07-01T17:01:56Z</dcterms:modified>
</cp:coreProperties>
</file>